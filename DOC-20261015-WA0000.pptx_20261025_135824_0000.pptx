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Aptos Bold" charset="1" panose="020B0004020202020204"/>
      <p:regular r:id="rId21"/>
    </p:embeddedFont>
    <p:embeddedFont>
      <p:font typeface="Aptos" charset="1" panose="020B0004020202020204"/>
      <p:regular r:id="rId22"/>
    </p:embeddedFont>
    <p:embeddedFont>
      <p:font typeface="Calibri (MS) Bold" charset="1" panose="020F0702030404030204"/>
      <p:regular r:id="rId23"/>
    </p:embeddedFont>
    <p:embeddedFont>
      <p:font typeface="Calibri (MS)" charset="1" panose="020F05020202040302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20.png" Type="http://schemas.openxmlformats.org/officeDocument/2006/relationships/image"/><Relationship Id="rId9" Target="../media/image2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35.svg" Type="http://schemas.openxmlformats.org/officeDocument/2006/relationships/image"/><Relationship Id="rId4" Target="../media/image36.png" Type="http://schemas.openxmlformats.org/officeDocument/2006/relationships/image"/><Relationship Id="rId5" Target="../media/image37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39.sv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41.svg" Type="http://schemas.openxmlformats.org/officeDocument/2006/relationships/image"/><Relationship Id="rId4" Target="../media/image42.png" Type="http://schemas.openxmlformats.org/officeDocument/2006/relationships/image"/><Relationship Id="rId5" Target="../media/image43.svg" Type="http://schemas.openxmlformats.org/officeDocument/2006/relationships/image"/><Relationship Id="rId6" Target="../media/image44.png" Type="http://schemas.openxmlformats.org/officeDocument/2006/relationships/image"/><Relationship Id="rId7" Target="../media/image45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Relationship Id="rId3" Target="../media/image47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8.png" Type="http://schemas.openxmlformats.org/officeDocument/2006/relationships/image"/><Relationship Id="rId3" Target="../media/image49.svg" Type="http://schemas.openxmlformats.org/officeDocument/2006/relationships/image"/><Relationship Id="rId4" Target="../media/image50.png" Type="http://schemas.openxmlformats.org/officeDocument/2006/relationships/image"/><Relationship Id="rId5" Target="../media/image51.svg" Type="http://schemas.openxmlformats.org/officeDocument/2006/relationships/image"/><Relationship Id="rId6" Target="../media/image52.png" Type="http://schemas.openxmlformats.org/officeDocument/2006/relationships/image"/><Relationship Id="rId7" Target="../media/image53.svg" Type="http://schemas.openxmlformats.org/officeDocument/2006/relationships/image"/><Relationship Id="rId8" Target="../media/image54.png" Type="http://schemas.openxmlformats.org/officeDocument/2006/relationships/image"/><Relationship Id="rId9" Target="../media/image55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6.png" Type="http://schemas.openxmlformats.org/officeDocument/2006/relationships/image"/><Relationship Id="rId3" Target="../media/image5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27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84709" y="879729"/>
            <a:ext cx="4623397" cy="8192414"/>
          </a:xfrm>
          <a:custGeom>
            <a:avLst/>
            <a:gdLst/>
            <a:ahLst/>
            <a:cxnLst/>
            <a:rect r="r" b="b" t="t" l="l"/>
            <a:pathLst>
              <a:path h="8192414" w="4623397">
                <a:moveTo>
                  <a:pt x="0" y="0"/>
                </a:moveTo>
                <a:lnTo>
                  <a:pt x="4623397" y="0"/>
                </a:lnTo>
                <a:lnTo>
                  <a:pt x="4623397" y="8192414"/>
                </a:lnTo>
                <a:lnTo>
                  <a:pt x="0" y="8192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329866" y="1524886"/>
            <a:ext cx="3291992" cy="1507484"/>
          </a:xfrm>
          <a:custGeom>
            <a:avLst/>
            <a:gdLst/>
            <a:ahLst/>
            <a:cxnLst/>
            <a:rect r="r" b="b" t="t" l="l"/>
            <a:pathLst>
              <a:path h="1507484" w="3291992">
                <a:moveTo>
                  <a:pt x="0" y="0"/>
                </a:moveTo>
                <a:lnTo>
                  <a:pt x="3291992" y="0"/>
                </a:lnTo>
                <a:lnTo>
                  <a:pt x="3291992" y="1507483"/>
                </a:lnTo>
                <a:lnTo>
                  <a:pt x="0" y="15074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644324" y="1921697"/>
            <a:ext cx="2635615" cy="576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3"/>
              </a:lnSpc>
            </a:pPr>
            <a:r>
              <a:rPr lang="en-US" sz="3602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ORDER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3329866" y="3391719"/>
            <a:ext cx="3291992" cy="1507484"/>
          </a:xfrm>
          <a:custGeom>
            <a:avLst/>
            <a:gdLst/>
            <a:ahLst/>
            <a:cxnLst/>
            <a:rect r="r" b="b" t="t" l="l"/>
            <a:pathLst>
              <a:path h="1507484" w="3291992">
                <a:moveTo>
                  <a:pt x="0" y="0"/>
                </a:moveTo>
                <a:lnTo>
                  <a:pt x="3291992" y="0"/>
                </a:lnTo>
                <a:lnTo>
                  <a:pt x="3291992" y="1507484"/>
                </a:lnTo>
                <a:lnTo>
                  <a:pt x="0" y="15074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644324" y="3788531"/>
            <a:ext cx="2635615" cy="576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PAYMENT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3329866" y="5258552"/>
            <a:ext cx="3291992" cy="1507484"/>
          </a:xfrm>
          <a:custGeom>
            <a:avLst/>
            <a:gdLst/>
            <a:ahLst/>
            <a:cxnLst/>
            <a:rect r="r" b="b" t="t" l="l"/>
            <a:pathLst>
              <a:path h="1507484" w="3291992">
                <a:moveTo>
                  <a:pt x="0" y="0"/>
                </a:moveTo>
                <a:lnTo>
                  <a:pt x="3291992" y="0"/>
                </a:lnTo>
                <a:lnTo>
                  <a:pt x="3291992" y="1507484"/>
                </a:lnTo>
                <a:lnTo>
                  <a:pt x="0" y="15074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644324" y="5655364"/>
            <a:ext cx="2635615" cy="576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true">
                <a:solidFill>
                  <a:srgbClr val="14274A"/>
                </a:solidFill>
                <a:latin typeface="Aptos Bold"/>
                <a:ea typeface="Aptos Bold"/>
                <a:cs typeface="Aptos Bold"/>
                <a:sym typeface="Aptos Bold"/>
              </a:rPr>
              <a:t>REPORTS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21638" y="1633433"/>
            <a:ext cx="10185311" cy="302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1F9E97"/>
                </a:solidFill>
                <a:latin typeface="Aptos Bold"/>
                <a:ea typeface="Aptos Bold"/>
                <a:cs typeface="Aptos Bold"/>
                <a:sym typeface="Aptos Bold"/>
              </a:rPr>
              <a:t>DATABASE MANAGEMENT SYSTEMS PROJECT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21638" y="2594305"/>
            <a:ext cx="10459850" cy="2155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5"/>
              </a:lnSpc>
            </a:pPr>
            <a:r>
              <a:rPr lang="en-US" sz="5403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Online Food</a:t>
            </a:r>
          </a:p>
          <a:p>
            <a:pPr algn="l">
              <a:lnSpc>
                <a:spcPts val="6485"/>
              </a:lnSpc>
            </a:pPr>
            <a:r>
              <a:rPr lang="en-US" sz="5403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Ordering System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62815" y="5271021"/>
            <a:ext cx="10048046" cy="1057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1"/>
              </a:lnSpc>
            </a:pPr>
            <a:r>
              <a:rPr lang="en-US" sz="2702">
                <a:solidFill>
                  <a:srgbClr val="DAE5F3"/>
                </a:solidFill>
                <a:latin typeface="Aptos"/>
                <a:ea typeface="Aptos"/>
                <a:cs typeface="Aptos"/>
                <a:sym typeface="Aptos"/>
              </a:rPr>
              <a:t>A MySQL database design for restaurants, menus,</a:t>
            </a:r>
          </a:p>
          <a:p>
            <a:pPr algn="l">
              <a:lnSpc>
                <a:spcPts val="3241"/>
              </a:lnSpc>
            </a:pPr>
            <a:r>
              <a:rPr lang="en-US" sz="2702">
                <a:solidFill>
                  <a:srgbClr val="DAE5F3"/>
                </a:solidFill>
                <a:latin typeface="Aptos"/>
                <a:ea typeface="Aptos"/>
                <a:cs typeface="Aptos"/>
                <a:sym typeface="Aptos"/>
              </a:rPr>
              <a:t>customer orders, payments and sales reporting.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95435" y="7331288"/>
            <a:ext cx="1397660" cy="107404"/>
            <a:chOff x="0" y="0"/>
            <a:chExt cx="1863547" cy="14320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63598" cy="143256"/>
            </a:xfrm>
            <a:custGeom>
              <a:avLst/>
              <a:gdLst/>
              <a:ahLst/>
              <a:cxnLst/>
              <a:rect r="r" b="b" t="t" l="l"/>
              <a:pathLst>
                <a:path h="143256" w="1863598">
                  <a:moveTo>
                    <a:pt x="0" y="0"/>
                  </a:moveTo>
                  <a:lnTo>
                    <a:pt x="1863598" y="0"/>
                  </a:lnTo>
                  <a:lnTo>
                    <a:pt x="1863598" y="143256"/>
                  </a:lnTo>
                  <a:lnTo>
                    <a:pt x="0" y="143256"/>
                  </a:lnTo>
                  <a:close/>
                </a:path>
              </a:pathLst>
            </a:custGeom>
            <a:solidFill>
              <a:srgbClr val="1F9E97"/>
            </a:solidFill>
            <a:ln w="14299" cap="sq">
              <a:solidFill>
                <a:srgbClr val="1F9E97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262815" y="7810462"/>
            <a:ext cx="9361713" cy="576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BBCCE1"/>
                </a:solidFill>
                <a:latin typeface="Aptos Bold"/>
                <a:ea typeface="Aptos Bold"/>
                <a:cs typeface="Aptos Bold"/>
                <a:sym typeface="Aptos Bold"/>
              </a:rPr>
              <a:t>PROJECT PRESENTATION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62815" y="8387067"/>
            <a:ext cx="4742878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3"/>
              </a:lnSpc>
            </a:pPr>
            <a:r>
              <a:rPr lang="en-US" sz="2919">
                <a:solidFill>
                  <a:srgbClr val="BBCCE1"/>
                </a:solidFill>
                <a:latin typeface="Aptos"/>
                <a:ea typeface="Aptos"/>
                <a:cs typeface="Aptos"/>
                <a:sym typeface="Aptos"/>
              </a:rPr>
              <a:t>Presented by:</a:t>
            </a:r>
          </a:p>
          <a:p>
            <a:pPr algn="l">
              <a:lnSpc>
                <a:spcPts val="3503"/>
              </a:lnSpc>
            </a:pPr>
            <a:r>
              <a:rPr lang="en-US" sz="2919">
                <a:solidFill>
                  <a:srgbClr val="BBCCE1"/>
                </a:solidFill>
                <a:latin typeface="Aptos"/>
                <a:ea typeface="Aptos"/>
                <a:cs typeface="Aptos"/>
                <a:sym typeface="Aptos"/>
              </a:rPr>
              <a:t>               Mrudhul Raina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05923" y="420167"/>
            <a:ext cx="13205193" cy="252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1F9E97"/>
                </a:solidFill>
                <a:latin typeface="Aptos Bold"/>
                <a:ea typeface="Aptos Bold"/>
                <a:cs typeface="Aptos Bold"/>
                <a:sym typeface="Aptos Bold"/>
              </a:rPr>
              <a:t>01 • INTRODUCTION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05923" y="924973"/>
            <a:ext cx="16362340" cy="626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2"/>
              </a:lnSpc>
            </a:pPr>
            <a:r>
              <a:rPr lang="en-US" sz="4053" b="true">
                <a:solidFill>
                  <a:srgbClr val="14274A"/>
                </a:solidFill>
                <a:latin typeface="Aptos Bold"/>
                <a:ea typeface="Aptos Bold"/>
                <a:cs typeface="Aptos Bold"/>
                <a:sym typeface="Aptos Bold"/>
              </a:rPr>
              <a:t>Problem Statement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65994" y="1744513"/>
            <a:ext cx="1054570" cy="100546"/>
            <a:chOff x="0" y="0"/>
            <a:chExt cx="1406093" cy="1340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06144" cy="134112"/>
            </a:xfrm>
            <a:custGeom>
              <a:avLst/>
              <a:gdLst/>
              <a:ahLst/>
              <a:cxnLst/>
              <a:rect r="r" b="b" t="t" l="l"/>
              <a:pathLst>
                <a:path h="134112" w="1406144">
                  <a:moveTo>
                    <a:pt x="0" y="0"/>
                  </a:moveTo>
                  <a:lnTo>
                    <a:pt x="1406144" y="0"/>
                  </a:lnTo>
                  <a:lnTo>
                    <a:pt x="1406144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1F9E97"/>
            </a:solidFill>
            <a:ln w="14299" cap="sq">
              <a:solidFill>
                <a:srgbClr val="1F9E97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05923" y="9828295"/>
            <a:ext cx="10871654" cy="13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>
                <a:solidFill>
                  <a:srgbClr val="5E6C7E"/>
                </a:solidFill>
                <a:latin typeface="Aptos"/>
                <a:ea typeface="Aptos"/>
                <a:cs typeface="Aptos"/>
                <a:sym typeface="Aptos"/>
              </a:rPr>
              <a:t>ONLINE FOOD ORDERING SYSTEM  •  MYSQL DATABASE 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732834" y="9754333"/>
            <a:ext cx="645243" cy="238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 b="true">
                <a:solidFill>
                  <a:srgbClr val="5E6C7E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3188" y="2278590"/>
            <a:ext cx="16225076" cy="878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1"/>
              </a:lnSpc>
            </a:pPr>
            <a:r>
              <a:rPr lang="en-US" sz="3152" b="true">
                <a:solidFill>
                  <a:srgbClr val="242F3E"/>
                </a:solidFill>
                <a:latin typeface="Aptos Bold"/>
                <a:ea typeface="Aptos Bold"/>
                <a:cs typeface="Aptos Bold"/>
                <a:sym typeface="Aptos Bold"/>
              </a:rPr>
              <a:t>Build a database that supports the core information and transactions of an online food ordering service.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16994" y="3625072"/>
            <a:ext cx="5172513" cy="2907659"/>
          </a:xfrm>
          <a:custGeom>
            <a:avLst/>
            <a:gdLst/>
            <a:ahLst/>
            <a:cxnLst/>
            <a:rect r="r" b="b" t="t" l="l"/>
            <a:pathLst>
              <a:path h="2907659" w="5172513">
                <a:moveTo>
                  <a:pt x="0" y="0"/>
                </a:moveTo>
                <a:lnTo>
                  <a:pt x="5172513" y="0"/>
                </a:lnTo>
                <a:lnTo>
                  <a:pt x="5172513" y="2907659"/>
                </a:lnTo>
                <a:lnTo>
                  <a:pt x="0" y="29076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016994" y="3625072"/>
            <a:ext cx="134836" cy="2907659"/>
            <a:chOff x="0" y="0"/>
            <a:chExt cx="179781" cy="387687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9832" cy="3876929"/>
            </a:xfrm>
            <a:custGeom>
              <a:avLst/>
              <a:gdLst/>
              <a:ahLst/>
              <a:cxnLst/>
              <a:rect r="r" b="b" t="t" l="l"/>
              <a:pathLst>
                <a:path h="3876929" w="179832">
                  <a:moveTo>
                    <a:pt x="0" y="0"/>
                  </a:moveTo>
                  <a:lnTo>
                    <a:pt x="179832" y="0"/>
                  </a:lnTo>
                  <a:lnTo>
                    <a:pt x="179832" y="3876929"/>
                  </a:lnTo>
                  <a:lnTo>
                    <a:pt x="0" y="3876929"/>
                  </a:lnTo>
                  <a:close/>
                </a:path>
              </a:pathLst>
            </a:custGeom>
            <a:solidFill>
              <a:srgbClr val="2366AD"/>
            </a:solidFill>
            <a:ln w="14299" cap="sq">
              <a:solidFill>
                <a:srgbClr val="2366AD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386354" y="3939530"/>
            <a:ext cx="4461272" cy="384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1"/>
              </a:lnSpc>
            </a:pPr>
            <a:r>
              <a:rPr lang="en-US" sz="2400" b="true">
                <a:solidFill>
                  <a:srgbClr val="14274A"/>
                </a:solidFill>
                <a:latin typeface="Aptos Bold"/>
                <a:ea typeface="Aptos Bold"/>
                <a:cs typeface="Aptos Bold"/>
                <a:sym typeface="Aptos Bold"/>
              </a:rPr>
              <a:t>Restaurant &amp; Menu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86354" y="4584687"/>
            <a:ext cx="4461272" cy="1702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Maintain restaurant details and food items, including price and availability.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6548866" y="3625072"/>
            <a:ext cx="5172513" cy="2907659"/>
          </a:xfrm>
          <a:custGeom>
            <a:avLst/>
            <a:gdLst/>
            <a:ahLst/>
            <a:cxnLst/>
            <a:rect r="r" b="b" t="t" l="l"/>
            <a:pathLst>
              <a:path h="2907659" w="5172513">
                <a:moveTo>
                  <a:pt x="0" y="0"/>
                </a:moveTo>
                <a:lnTo>
                  <a:pt x="5172513" y="0"/>
                </a:lnTo>
                <a:lnTo>
                  <a:pt x="5172513" y="2907659"/>
                </a:lnTo>
                <a:lnTo>
                  <a:pt x="0" y="29076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6548866" y="3625072"/>
            <a:ext cx="134836" cy="2907659"/>
            <a:chOff x="0" y="0"/>
            <a:chExt cx="179781" cy="387687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9832" cy="3876929"/>
            </a:xfrm>
            <a:custGeom>
              <a:avLst/>
              <a:gdLst/>
              <a:ahLst/>
              <a:cxnLst/>
              <a:rect r="r" b="b" t="t" l="l"/>
              <a:pathLst>
                <a:path h="3876929" w="179832">
                  <a:moveTo>
                    <a:pt x="0" y="0"/>
                  </a:moveTo>
                  <a:lnTo>
                    <a:pt x="179832" y="0"/>
                  </a:lnTo>
                  <a:lnTo>
                    <a:pt x="179832" y="3876929"/>
                  </a:lnTo>
                  <a:lnTo>
                    <a:pt x="0" y="3876929"/>
                  </a:lnTo>
                  <a:close/>
                </a:path>
              </a:pathLst>
            </a:custGeom>
            <a:solidFill>
              <a:srgbClr val="1F9E97"/>
            </a:solidFill>
            <a:ln w="14299" cap="sq">
              <a:solidFill>
                <a:srgbClr val="1F9E97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6918227" y="3939530"/>
            <a:ext cx="4461272" cy="384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1"/>
              </a:lnSpc>
            </a:pPr>
            <a:r>
              <a:rPr lang="en-US" sz="2400" b="true">
                <a:solidFill>
                  <a:srgbClr val="14274A"/>
                </a:solidFill>
                <a:latin typeface="Aptos Bold"/>
                <a:ea typeface="Aptos Bold"/>
                <a:cs typeface="Aptos Bold"/>
                <a:sym typeface="Aptos Bold"/>
              </a:rPr>
              <a:t>Orders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918227" y="4584687"/>
            <a:ext cx="4461272" cy="1702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Record which customer orders which menu item, in what quantity, and when.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2080729" y="3625072"/>
            <a:ext cx="5172513" cy="2907659"/>
          </a:xfrm>
          <a:custGeom>
            <a:avLst/>
            <a:gdLst/>
            <a:ahLst/>
            <a:cxnLst/>
            <a:rect r="r" b="b" t="t" l="l"/>
            <a:pathLst>
              <a:path h="2907659" w="5172513">
                <a:moveTo>
                  <a:pt x="0" y="0"/>
                </a:moveTo>
                <a:lnTo>
                  <a:pt x="5172513" y="0"/>
                </a:lnTo>
                <a:lnTo>
                  <a:pt x="5172513" y="2907659"/>
                </a:lnTo>
                <a:lnTo>
                  <a:pt x="0" y="29076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2080729" y="3625072"/>
            <a:ext cx="134836" cy="2907659"/>
            <a:chOff x="0" y="0"/>
            <a:chExt cx="179781" cy="387687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79832" cy="3876929"/>
            </a:xfrm>
            <a:custGeom>
              <a:avLst/>
              <a:gdLst/>
              <a:ahLst/>
              <a:cxnLst/>
              <a:rect r="r" b="b" t="t" l="l"/>
              <a:pathLst>
                <a:path h="3876929" w="179832">
                  <a:moveTo>
                    <a:pt x="0" y="0"/>
                  </a:moveTo>
                  <a:lnTo>
                    <a:pt x="179832" y="0"/>
                  </a:lnTo>
                  <a:lnTo>
                    <a:pt x="179832" y="3876929"/>
                  </a:lnTo>
                  <a:lnTo>
                    <a:pt x="0" y="3876929"/>
                  </a:lnTo>
                  <a:close/>
                </a:path>
              </a:pathLst>
            </a:custGeom>
            <a:solidFill>
              <a:srgbClr val="F2B24B"/>
            </a:solidFill>
            <a:ln w="14299" cap="sq">
              <a:solidFill>
                <a:srgbClr val="F2B24B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2450099" y="3939530"/>
            <a:ext cx="4461272" cy="384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1"/>
              </a:lnSpc>
            </a:pPr>
            <a:r>
              <a:rPr lang="en-US" sz="2400" b="true">
                <a:solidFill>
                  <a:srgbClr val="14274A"/>
                </a:solidFill>
                <a:latin typeface="Aptos Bold"/>
                <a:ea typeface="Aptos Bold"/>
                <a:cs typeface="Aptos Bold"/>
                <a:sym typeface="Aptos Bold"/>
              </a:rPr>
              <a:t>Payments &amp; Reports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450099" y="4584687"/>
            <a:ext cx="4461272" cy="1702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Track payment method, amount, status and date; support sales and order reports.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21638" y="7261393"/>
            <a:ext cx="15950536" cy="988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1"/>
              </a:lnSpc>
            </a:pPr>
            <a:r>
              <a:rPr lang="en-US" sz="2702">
                <a:solidFill>
                  <a:srgbClr val="5E6C7E"/>
                </a:solidFill>
                <a:latin typeface="Aptos"/>
                <a:ea typeface="Aptos"/>
                <a:cs typeface="Aptos"/>
                <a:sym typeface="Aptos"/>
              </a:rPr>
              <a:t>The database is intended to make information consistent, easy to retrieve and useful for operational reporting.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342900"/>
            <a:ext cx="16911828" cy="960120"/>
            <a:chOff x="0" y="0"/>
            <a:chExt cx="22549104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4910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3215" r="0" b="-2932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22549104" cy="1365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Online Food Ordering System – ER Diagram</a:t>
              </a:r>
            </a:p>
          </p:txBody>
        </p:sp>
      </p:grpSp>
      <p:sp>
        <p:nvSpPr>
          <p:cNvPr name="AutoShape 5" id="5"/>
          <p:cNvSpPr/>
          <p:nvPr/>
        </p:nvSpPr>
        <p:spPr>
          <a:xfrm rot="4147740">
            <a:off x="1240746" y="3173921"/>
            <a:ext cx="1221838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-4619220">
            <a:off x="2140172" y="3173921"/>
            <a:ext cx="1171756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-3323520">
            <a:off x="1373791" y="4840414"/>
            <a:ext cx="887168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rot="3114240">
            <a:off x="2416445" y="4840414"/>
            <a:ext cx="927830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rot="2954640">
            <a:off x="5007140" y="3173921"/>
            <a:ext cx="1507160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rot="5122380">
            <a:off x="6182430" y="3173921"/>
            <a:ext cx="1145400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rot="-3206160">
            <a:off x="7175992" y="3173921"/>
            <a:ext cx="1421416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rot="5287920">
            <a:off x="6492716" y="4840414"/>
            <a:ext cx="730577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rot="2629200">
            <a:off x="9496863" y="3173921"/>
            <a:ext cx="1648854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rot="4918440">
            <a:off x="10602058" y="3173921"/>
            <a:ext cx="115296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rot="-3206160">
            <a:off x="11702272" y="3173921"/>
            <a:ext cx="1421416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rot="2085059">
            <a:off x="11738191" y="4840414"/>
            <a:ext cx="1280998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rot="3273720">
            <a:off x="14266955" y="3173921"/>
            <a:ext cx="1401261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rot="4918440">
            <a:off x="15196918" y="3173921"/>
            <a:ext cx="115296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 rot="-3641160">
            <a:off x="16044567" y="3173921"/>
            <a:ext cx="1309326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rot="-3551940">
            <a:off x="14799716" y="4840414"/>
            <a:ext cx="850087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 rot="4067400">
            <a:off x="16133426" y="4840414"/>
            <a:ext cx="788708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rot="-1590120">
            <a:off x="9374229" y="8920924"/>
            <a:ext cx="14826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 rot="-3399480">
            <a:off x="10576817" y="8920924"/>
            <a:ext cx="791966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 rot="3162420">
            <a:off x="11482816" y="8920924"/>
            <a:ext cx="831628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 rot="1744800">
            <a:off x="12178113" y="8920924"/>
            <a:ext cx="1361265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 rot="187860">
            <a:off x="3279610" y="4110038"/>
            <a:ext cx="435940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 rot="187860">
            <a:off x="5474170" y="4110038"/>
            <a:ext cx="435940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rot="187860">
            <a:off x="7805890" y="4110038"/>
            <a:ext cx="435940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 rot="187860">
            <a:off x="10000450" y="4110038"/>
            <a:ext cx="435940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 rot="187860">
            <a:off x="12332170" y="4110038"/>
            <a:ext cx="435940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 rot="187860">
            <a:off x="14526730" y="4110038"/>
            <a:ext cx="435940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 rot="5339880">
            <a:off x="10703614" y="5155882"/>
            <a:ext cx="1361332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 rot="5313840">
            <a:off x="10909306" y="7384732"/>
            <a:ext cx="949938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4" id="34"/>
          <p:cNvGrpSpPr/>
          <p:nvPr/>
        </p:nvGrpSpPr>
        <p:grpSpPr>
          <a:xfrm rot="0">
            <a:off x="1357312" y="3723322"/>
            <a:ext cx="1948815" cy="782955"/>
            <a:chOff x="0" y="0"/>
            <a:chExt cx="2598420" cy="10439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598420" cy="1043940"/>
            </a:xfrm>
            <a:custGeom>
              <a:avLst/>
              <a:gdLst/>
              <a:ahLst/>
              <a:cxnLst/>
              <a:rect r="r" b="b" t="t" l="l"/>
              <a:pathLst>
                <a:path h="1043940" w="2598420">
                  <a:moveTo>
                    <a:pt x="0" y="0"/>
                  </a:moveTo>
                  <a:lnTo>
                    <a:pt x="2598420" y="0"/>
                  </a:lnTo>
                  <a:lnTo>
                    <a:pt x="2598420" y="1043940"/>
                  </a:lnTo>
                  <a:lnTo>
                    <a:pt x="0" y="10439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2598420" cy="10915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Restaurants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5883592" y="3723322"/>
            <a:ext cx="1948815" cy="782955"/>
            <a:chOff x="0" y="0"/>
            <a:chExt cx="2598420" cy="10439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598420" cy="1043940"/>
            </a:xfrm>
            <a:custGeom>
              <a:avLst/>
              <a:gdLst/>
              <a:ahLst/>
              <a:cxnLst/>
              <a:rect r="r" b="b" t="t" l="l"/>
              <a:pathLst>
                <a:path h="1043940" w="2598420">
                  <a:moveTo>
                    <a:pt x="0" y="0"/>
                  </a:moveTo>
                  <a:lnTo>
                    <a:pt x="2598420" y="0"/>
                  </a:lnTo>
                  <a:lnTo>
                    <a:pt x="2598420" y="1043940"/>
                  </a:lnTo>
                  <a:lnTo>
                    <a:pt x="0" y="10439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2598420" cy="10915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Menu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409872" y="3723322"/>
            <a:ext cx="1948815" cy="782955"/>
            <a:chOff x="0" y="0"/>
            <a:chExt cx="2598420" cy="10439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598420" cy="1043940"/>
            </a:xfrm>
            <a:custGeom>
              <a:avLst/>
              <a:gdLst/>
              <a:ahLst/>
              <a:cxnLst/>
              <a:rect r="r" b="b" t="t" l="l"/>
              <a:pathLst>
                <a:path h="1043940" w="2598420">
                  <a:moveTo>
                    <a:pt x="0" y="0"/>
                  </a:moveTo>
                  <a:lnTo>
                    <a:pt x="2598420" y="0"/>
                  </a:lnTo>
                  <a:lnTo>
                    <a:pt x="2598420" y="1043940"/>
                  </a:lnTo>
                  <a:lnTo>
                    <a:pt x="0" y="10439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2598420" cy="10915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Orders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4936152" y="3723322"/>
            <a:ext cx="1948815" cy="782955"/>
            <a:chOff x="0" y="0"/>
            <a:chExt cx="2598420" cy="10439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598420" cy="1043940"/>
            </a:xfrm>
            <a:custGeom>
              <a:avLst/>
              <a:gdLst/>
              <a:ahLst/>
              <a:cxnLst/>
              <a:rect r="r" b="b" t="t" l="l"/>
              <a:pathLst>
                <a:path h="1043940" w="2598420">
                  <a:moveTo>
                    <a:pt x="0" y="0"/>
                  </a:moveTo>
                  <a:lnTo>
                    <a:pt x="2598420" y="0"/>
                  </a:lnTo>
                  <a:lnTo>
                    <a:pt x="2598420" y="1043940"/>
                  </a:lnTo>
                  <a:lnTo>
                    <a:pt x="0" y="10439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2598420" cy="10915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Payments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0409872" y="7838122"/>
            <a:ext cx="1948815" cy="782955"/>
            <a:chOff x="0" y="0"/>
            <a:chExt cx="2598420" cy="10439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598420" cy="1043940"/>
            </a:xfrm>
            <a:custGeom>
              <a:avLst/>
              <a:gdLst/>
              <a:ahLst/>
              <a:cxnLst/>
              <a:rect r="r" b="b" t="t" l="l"/>
              <a:pathLst>
                <a:path h="1043940" w="2598420">
                  <a:moveTo>
                    <a:pt x="0" y="0"/>
                  </a:moveTo>
                  <a:lnTo>
                    <a:pt x="2598420" y="0"/>
                  </a:lnTo>
                  <a:lnTo>
                    <a:pt x="2598420" y="1043940"/>
                  </a:lnTo>
                  <a:lnTo>
                    <a:pt x="0" y="10439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2598420" cy="10915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Customers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3689033" y="3551872"/>
            <a:ext cx="1811655" cy="1125855"/>
            <a:chOff x="0" y="0"/>
            <a:chExt cx="2415540" cy="15011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41554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415540">
                  <a:moveTo>
                    <a:pt x="0" y="750570"/>
                  </a:moveTo>
                  <a:lnTo>
                    <a:pt x="1207770" y="0"/>
                  </a:lnTo>
                  <a:lnTo>
                    <a:pt x="2415540" y="750570"/>
                  </a:lnTo>
                  <a:lnTo>
                    <a:pt x="1207770" y="1501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2415540" cy="15392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has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8215312" y="3551872"/>
            <a:ext cx="1811655" cy="1125855"/>
            <a:chOff x="0" y="0"/>
            <a:chExt cx="2415540" cy="15011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41554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415540">
                  <a:moveTo>
                    <a:pt x="0" y="750570"/>
                  </a:moveTo>
                  <a:lnTo>
                    <a:pt x="1207770" y="0"/>
                  </a:lnTo>
                  <a:lnTo>
                    <a:pt x="2415540" y="750570"/>
                  </a:lnTo>
                  <a:lnTo>
                    <a:pt x="1207770" y="1501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2415540" cy="15392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ordered in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2741593" y="3551872"/>
            <a:ext cx="1811655" cy="1125855"/>
            <a:chOff x="0" y="0"/>
            <a:chExt cx="2415540" cy="15011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41554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415540">
                  <a:moveTo>
                    <a:pt x="0" y="750570"/>
                  </a:moveTo>
                  <a:lnTo>
                    <a:pt x="1207770" y="0"/>
                  </a:lnTo>
                  <a:lnTo>
                    <a:pt x="2415540" y="750570"/>
                  </a:lnTo>
                  <a:lnTo>
                    <a:pt x="1207770" y="1501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2415540" cy="15392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paid by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0478452" y="5815012"/>
            <a:ext cx="1811655" cy="1125855"/>
            <a:chOff x="0" y="0"/>
            <a:chExt cx="2415540" cy="15011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41554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415540">
                  <a:moveTo>
                    <a:pt x="0" y="750570"/>
                  </a:moveTo>
                  <a:lnTo>
                    <a:pt x="1207770" y="0"/>
                  </a:lnTo>
                  <a:lnTo>
                    <a:pt x="2415540" y="750570"/>
                  </a:lnTo>
                  <a:lnTo>
                    <a:pt x="1207770" y="1501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2415540" cy="15392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places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220152" y="2029397"/>
            <a:ext cx="851535" cy="604647"/>
            <a:chOff x="0" y="0"/>
            <a:chExt cx="1135380" cy="80619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135380" cy="806196"/>
            </a:xfrm>
            <a:custGeom>
              <a:avLst/>
              <a:gdLst/>
              <a:ahLst/>
              <a:cxnLst/>
              <a:rect r="r" b="b" t="t" l="l"/>
              <a:pathLst>
                <a:path h="806196" w="1135380">
                  <a:moveTo>
                    <a:pt x="0" y="403098"/>
                  </a:moveTo>
                  <a:cubicBezTo>
                    <a:pt x="0" y="180467"/>
                    <a:pt x="254127" y="0"/>
                    <a:pt x="567690" y="0"/>
                  </a:cubicBezTo>
                  <a:cubicBezTo>
                    <a:pt x="881253" y="0"/>
                    <a:pt x="1135380" y="180467"/>
                    <a:pt x="1135380" y="403098"/>
                  </a:cubicBezTo>
                  <a:cubicBezTo>
                    <a:pt x="1135380" y="625729"/>
                    <a:pt x="881253" y="806196"/>
                    <a:pt x="567690" y="806196"/>
                  </a:cubicBezTo>
                  <a:cubicBezTo>
                    <a:pt x="254127" y="806196"/>
                    <a:pt x="0" y="625729"/>
                    <a:pt x="0" y="403098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1135380" cy="844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id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2248852" y="2029397"/>
            <a:ext cx="1194435" cy="604647"/>
            <a:chOff x="0" y="0"/>
            <a:chExt cx="1592580" cy="80619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592580" cy="806196"/>
            </a:xfrm>
            <a:custGeom>
              <a:avLst/>
              <a:gdLst/>
              <a:ahLst/>
              <a:cxnLst/>
              <a:rect r="r" b="b" t="t" l="l"/>
              <a:pathLst>
                <a:path h="806196" w="1592580">
                  <a:moveTo>
                    <a:pt x="0" y="403098"/>
                  </a:moveTo>
                  <a:cubicBezTo>
                    <a:pt x="0" y="180467"/>
                    <a:pt x="356489" y="0"/>
                    <a:pt x="796290" y="0"/>
                  </a:cubicBezTo>
                  <a:cubicBezTo>
                    <a:pt x="1236091" y="0"/>
                    <a:pt x="1592580" y="180467"/>
                    <a:pt x="1592580" y="403098"/>
                  </a:cubicBezTo>
                  <a:cubicBezTo>
                    <a:pt x="1592580" y="625729"/>
                    <a:pt x="1236091" y="806196"/>
                    <a:pt x="796290" y="806196"/>
                  </a:cubicBezTo>
                  <a:cubicBezTo>
                    <a:pt x="356489" y="806196"/>
                    <a:pt x="0" y="625729"/>
                    <a:pt x="0" y="403098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1592580" cy="844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name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842962" y="5184076"/>
            <a:ext cx="1468755" cy="604647"/>
            <a:chOff x="0" y="0"/>
            <a:chExt cx="1958340" cy="806196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958340" cy="806196"/>
            </a:xfrm>
            <a:custGeom>
              <a:avLst/>
              <a:gdLst/>
              <a:ahLst/>
              <a:cxnLst/>
              <a:rect r="r" b="b" t="t" l="l"/>
              <a:pathLst>
                <a:path h="806196" w="1958340">
                  <a:moveTo>
                    <a:pt x="0" y="403098"/>
                  </a:moveTo>
                  <a:cubicBezTo>
                    <a:pt x="0" y="180467"/>
                    <a:pt x="438404" y="0"/>
                    <a:pt x="979170" y="0"/>
                  </a:cubicBezTo>
                  <a:cubicBezTo>
                    <a:pt x="1519936" y="0"/>
                    <a:pt x="1958340" y="180467"/>
                    <a:pt x="1958340" y="403098"/>
                  </a:cubicBezTo>
                  <a:cubicBezTo>
                    <a:pt x="1958340" y="625729"/>
                    <a:pt x="1519936" y="806196"/>
                    <a:pt x="979170" y="806196"/>
                  </a:cubicBezTo>
                  <a:cubicBezTo>
                    <a:pt x="438404" y="806196"/>
                    <a:pt x="0" y="625729"/>
                    <a:pt x="0" y="403098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1958340" cy="844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location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2488883" y="5184076"/>
            <a:ext cx="1331595" cy="604647"/>
            <a:chOff x="0" y="0"/>
            <a:chExt cx="1775460" cy="80619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775460" cy="806196"/>
            </a:xfrm>
            <a:custGeom>
              <a:avLst/>
              <a:gdLst/>
              <a:ahLst/>
              <a:cxnLst/>
              <a:rect r="r" b="b" t="t" l="l"/>
              <a:pathLst>
                <a:path h="806196" w="1775460">
                  <a:moveTo>
                    <a:pt x="0" y="403098"/>
                  </a:moveTo>
                  <a:cubicBezTo>
                    <a:pt x="0" y="180467"/>
                    <a:pt x="397510" y="0"/>
                    <a:pt x="887730" y="0"/>
                  </a:cubicBezTo>
                  <a:cubicBezTo>
                    <a:pt x="1377950" y="0"/>
                    <a:pt x="1775460" y="180467"/>
                    <a:pt x="1775460" y="403098"/>
                  </a:cubicBezTo>
                  <a:cubicBezTo>
                    <a:pt x="1775460" y="625729"/>
                    <a:pt x="1377950" y="806196"/>
                    <a:pt x="887730" y="806196"/>
                  </a:cubicBezTo>
                  <a:cubicBezTo>
                    <a:pt x="397510" y="806196"/>
                    <a:pt x="0" y="625729"/>
                    <a:pt x="0" y="403098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1775460" cy="844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cuisine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4854892" y="2029397"/>
            <a:ext cx="851535" cy="604647"/>
            <a:chOff x="0" y="0"/>
            <a:chExt cx="1135380" cy="80619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135380" cy="806196"/>
            </a:xfrm>
            <a:custGeom>
              <a:avLst/>
              <a:gdLst/>
              <a:ahLst/>
              <a:cxnLst/>
              <a:rect r="r" b="b" t="t" l="l"/>
              <a:pathLst>
                <a:path h="806196" w="1135380">
                  <a:moveTo>
                    <a:pt x="0" y="403098"/>
                  </a:moveTo>
                  <a:cubicBezTo>
                    <a:pt x="0" y="180467"/>
                    <a:pt x="254127" y="0"/>
                    <a:pt x="567690" y="0"/>
                  </a:cubicBezTo>
                  <a:cubicBezTo>
                    <a:pt x="881253" y="0"/>
                    <a:pt x="1135380" y="180467"/>
                    <a:pt x="1135380" y="403098"/>
                  </a:cubicBezTo>
                  <a:cubicBezTo>
                    <a:pt x="1135380" y="625729"/>
                    <a:pt x="881253" y="806196"/>
                    <a:pt x="567690" y="806196"/>
                  </a:cubicBezTo>
                  <a:cubicBezTo>
                    <a:pt x="254127" y="806196"/>
                    <a:pt x="0" y="625729"/>
                    <a:pt x="0" y="403098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1135380" cy="844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id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5883592" y="2029397"/>
            <a:ext cx="1674495" cy="604647"/>
            <a:chOff x="0" y="0"/>
            <a:chExt cx="2232660" cy="80619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232660" cy="806196"/>
            </a:xfrm>
            <a:custGeom>
              <a:avLst/>
              <a:gdLst/>
              <a:ahLst/>
              <a:cxnLst/>
              <a:rect r="r" b="b" t="t" l="l"/>
              <a:pathLst>
                <a:path h="806196" w="2232660">
                  <a:moveTo>
                    <a:pt x="0" y="403098"/>
                  </a:moveTo>
                  <a:cubicBezTo>
                    <a:pt x="0" y="180467"/>
                    <a:pt x="499745" y="0"/>
                    <a:pt x="1116330" y="0"/>
                  </a:cubicBezTo>
                  <a:cubicBezTo>
                    <a:pt x="1732915" y="0"/>
                    <a:pt x="2232660" y="180467"/>
                    <a:pt x="2232660" y="403098"/>
                  </a:cubicBezTo>
                  <a:cubicBezTo>
                    <a:pt x="2232660" y="625729"/>
                    <a:pt x="1732915" y="806196"/>
                    <a:pt x="1116330" y="806196"/>
                  </a:cubicBezTo>
                  <a:cubicBezTo>
                    <a:pt x="499745" y="806196"/>
                    <a:pt x="0" y="625729"/>
                    <a:pt x="0" y="403098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2232660" cy="844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item_name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7735253" y="2029397"/>
            <a:ext cx="1125855" cy="604647"/>
            <a:chOff x="0" y="0"/>
            <a:chExt cx="1501140" cy="806196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501140" cy="806196"/>
            </a:xfrm>
            <a:custGeom>
              <a:avLst/>
              <a:gdLst/>
              <a:ahLst/>
              <a:cxnLst/>
              <a:rect r="r" b="b" t="t" l="l"/>
              <a:pathLst>
                <a:path h="806196" w="1501140">
                  <a:moveTo>
                    <a:pt x="0" y="403098"/>
                  </a:moveTo>
                  <a:cubicBezTo>
                    <a:pt x="0" y="180467"/>
                    <a:pt x="336042" y="0"/>
                    <a:pt x="750570" y="0"/>
                  </a:cubicBezTo>
                  <a:cubicBezTo>
                    <a:pt x="1165098" y="0"/>
                    <a:pt x="1501140" y="180467"/>
                    <a:pt x="1501140" y="403098"/>
                  </a:cubicBezTo>
                  <a:cubicBezTo>
                    <a:pt x="1501140" y="625729"/>
                    <a:pt x="1165098" y="806196"/>
                    <a:pt x="750570" y="806196"/>
                  </a:cubicBezTo>
                  <a:cubicBezTo>
                    <a:pt x="336042" y="806196"/>
                    <a:pt x="0" y="625729"/>
                    <a:pt x="0" y="403098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1501140" cy="844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price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5952172" y="5184076"/>
            <a:ext cx="1811655" cy="604647"/>
            <a:chOff x="0" y="0"/>
            <a:chExt cx="2415540" cy="80619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415540" cy="806196"/>
            </a:xfrm>
            <a:custGeom>
              <a:avLst/>
              <a:gdLst/>
              <a:ahLst/>
              <a:cxnLst/>
              <a:rect r="r" b="b" t="t" l="l"/>
              <a:pathLst>
                <a:path h="806196" w="2415540">
                  <a:moveTo>
                    <a:pt x="0" y="403098"/>
                  </a:moveTo>
                  <a:cubicBezTo>
                    <a:pt x="0" y="180467"/>
                    <a:pt x="540766" y="0"/>
                    <a:pt x="1207770" y="0"/>
                  </a:cubicBezTo>
                  <a:cubicBezTo>
                    <a:pt x="1874774" y="0"/>
                    <a:pt x="2415540" y="180467"/>
                    <a:pt x="2415540" y="403098"/>
                  </a:cubicBezTo>
                  <a:cubicBezTo>
                    <a:pt x="2415540" y="625729"/>
                    <a:pt x="1874774" y="806196"/>
                    <a:pt x="1207770" y="806196"/>
                  </a:cubicBezTo>
                  <a:cubicBezTo>
                    <a:pt x="540766" y="806196"/>
                    <a:pt x="0" y="625729"/>
                    <a:pt x="0" y="403098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2415540" cy="844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availability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9312593" y="2029397"/>
            <a:ext cx="851535" cy="604647"/>
            <a:chOff x="0" y="0"/>
            <a:chExt cx="1135380" cy="806196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135380" cy="806196"/>
            </a:xfrm>
            <a:custGeom>
              <a:avLst/>
              <a:gdLst/>
              <a:ahLst/>
              <a:cxnLst/>
              <a:rect r="r" b="b" t="t" l="l"/>
              <a:pathLst>
                <a:path h="806196" w="1135380">
                  <a:moveTo>
                    <a:pt x="0" y="403098"/>
                  </a:moveTo>
                  <a:cubicBezTo>
                    <a:pt x="0" y="180467"/>
                    <a:pt x="254127" y="0"/>
                    <a:pt x="567690" y="0"/>
                  </a:cubicBezTo>
                  <a:cubicBezTo>
                    <a:pt x="881253" y="0"/>
                    <a:pt x="1135380" y="180467"/>
                    <a:pt x="1135380" y="403098"/>
                  </a:cubicBezTo>
                  <a:cubicBezTo>
                    <a:pt x="1135380" y="625729"/>
                    <a:pt x="881253" y="806196"/>
                    <a:pt x="567690" y="806196"/>
                  </a:cubicBezTo>
                  <a:cubicBezTo>
                    <a:pt x="254127" y="806196"/>
                    <a:pt x="0" y="625729"/>
                    <a:pt x="0" y="403098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1135380" cy="844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id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0375582" y="2029397"/>
            <a:ext cx="1468755" cy="604647"/>
            <a:chOff x="0" y="0"/>
            <a:chExt cx="1958340" cy="806196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958340" cy="806196"/>
            </a:xfrm>
            <a:custGeom>
              <a:avLst/>
              <a:gdLst/>
              <a:ahLst/>
              <a:cxnLst/>
              <a:rect r="r" b="b" t="t" l="l"/>
              <a:pathLst>
                <a:path h="806196" w="1958340">
                  <a:moveTo>
                    <a:pt x="0" y="403098"/>
                  </a:moveTo>
                  <a:cubicBezTo>
                    <a:pt x="0" y="180467"/>
                    <a:pt x="438404" y="0"/>
                    <a:pt x="979170" y="0"/>
                  </a:cubicBezTo>
                  <a:cubicBezTo>
                    <a:pt x="1519936" y="0"/>
                    <a:pt x="1958340" y="180467"/>
                    <a:pt x="1958340" y="403098"/>
                  </a:cubicBezTo>
                  <a:cubicBezTo>
                    <a:pt x="1958340" y="625729"/>
                    <a:pt x="1519936" y="806196"/>
                    <a:pt x="979170" y="806196"/>
                  </a:cubicBezTo>
                  <a:cubicBezTo>
                    <a:pt x="438404" y="806196"/>
                    <a:pt x="0" y="625729"/>
                    <a:pt x="0" y="403098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1958340" cy="844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quantity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1952922" y="2029397"/>
            <a:ext cx="1743075" cy="604647"/>
            <a:chOff x="0" y="0"/>
            <a:chExt cx="2324100" cy="806196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324100" cy="806196"/>
            </a:xfrm>
            <a:custGeom>
              <a:avLst/>
              <a:gdLst/>
              <a:ahLst/>
              <a:cxnLst/>
              <a:rect r="r" b="b" t="t" l="l"/>
              <a:pathLst>
                <a:path h="806196" w="2324100">
                  <a:moveTo>
                    <a:pt x="0" y="403098"/>
                  </a:moveTo>
                  <a:cubicBezTo>
                    <a:pt x="0" y="180467"/>
                    <a:pt x="520319" y="0"/>
                    <a:pt x="1162050" y="0"/>
                  </a:cubicBezTo>
                  <a:cubicBezTo>
                    <a:pt x="1803781" y="0"/>
                    <a:pt x="2324100" y="180467"/>
                    <a:pt x="2324100" y="403098"/>
                  </a:cubicBezTo>
                  <a:cubicBezTo>
                    <a:pt x="2324100" y="625729"/>
                    <a:pt x="1803781" y="806196"/>
                    <a:pt x="1162050" y="806196"/>
                  </a:cubicBezTo>
                  <a:cubicBezTo>
                    <a:pt x="520319" y="806196"/>
                    <a:pt x="0" y="625729"/>
                    <a:pt x="0" y="403098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2324100" cy="844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order_date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2398693" y="5184076"/>
            <a:ext cx="1263015" cy="604647"/>
            <a:chOff x="0" y="0"/>
            <a:chExt cx="1684020" cy="806196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684020" cy="806196"/>
            </a:xfrm>
            <a:custGeom>
              <a:avLst/>
              <a:gdLst/>
              <a:ahLst/>
              <a:cxnLst/>
              <a:rect r="r" b="b" t="t" l="l"/>
              <a:pathLst>
                <a:path h="806196" w="1684020">
                  <a:moveTo>
                    <a:pt x="0" y="403098"/>
                  </a:moveTo>
                  <a:cubicBezTo>
                    <a:pt x="0" y="180467"/>
                    <a:pt x="376936" y="0"/>
                    <a:pt x="842010" y="0"/>
                  </a:cubicBezTo>
                  <a:cubicBezTo>
                    <a:pt x="1307084" y="0"/>
                    <a:pt x="1684020" y="180467"/>
                    <a:pt x="1684020" y="403098"/>
                  </a:cubicBezTo>
                  <a:cubicBezTo>
                    <a:pt x="1684020" y="625729"/>
                    <a:pt x="1307084" y="806196"/>
                    <a:pt x="842010" y="806196"/>
                  </a:cubicBezTo>
                  <a:cubicBezTo>
                    <a:pt x="376936" y="806196"/>
                    <a:pt x="0" y="625729"/>
                    <a:pt x="0" y="403098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6" id="96"/>
            <p:cNvSpPr txBox="true"/>
            <p:nvPr/>
          </p:nvSpPr>
          <p:spPr>
            <a:xfrm>
              <a:off x="0" y="-38100"/>
              <a:ext cx="1684020" cy="844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status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4147482" y="2029397"/>
            <a:ext cx="851535" cy="604647"/>
            <a:chOff x="0" y="0"/>
            <a:chExt cx="1135380" cy="806196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135380" cy="806196"/>
            </a:xfrm>
            <a:custGeom>
              <a:avLst/>
              <a:gdLst/>
              <a:ahLst/>
              <a:cxnLst/>
              <a:rect r="r" b="b" t="t" l="l"/>
              <a:pathLst>
                <a:path h="806196" w="1135380">
                  <a:moveTo>
                    <a:pt x="0" y="403098"/>
                  </a:moveTo>
                  <a:cubicBezTo>
                    <a:pt x="0" y="180467"/>
                    <a:pt x="254127" y="0"/>
                    <a:pt x="567690" y="0"/>
                  </a:cubicBezTo>
                  <a:cubicBezTo>
                    <a:pt x="881253" y="0"/>
                    <a:pt x="1135380" y="180467"/>
                    <a:pt x="1135380" y="403098"/>
                  </a:cubicBezTo>
                  <a:cubicBezTo>
                    <a:pt x="1135380" y="625729"/>
                    <a:pt x="881253" y="806196"/>
                    <a:pt x="567690" y="806196"/>
                  </a:cubicBezTo>
                  <a:cubicBezTo>
                    <a:pt x="254127" y="806196"/>
                    <a:pt x="0" y="625729"/>
                    <a:pt x="0" y="403098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9" id="99"/>
            <p:cNvSpPr txBox="true"/>
            <p:nvPr/>
          </p:nvSpPr>
          <p:spPr>
            <a:xfrm>
              <a:off x="0" y="-38100"/>
              <a:ext cx="1135380" cy="844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id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5176182" y="2029397"/>
            <a:ext cx="1057275" cy="604647"/>
            <a:chOff x="0" y="0"/>
            <a:chExt cx="1409700" cy="806196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409700" cy="806196"/>
            </a:xfrm>
            <a:custGeom>
              <a:avLst/>
              <a:gdLst/>
              <a:ahLst/>
              <a:cxnLst/>
              <a:rect r="r" b="b" t="t" l="l"/>
              <a:pathLst>
                <a:path h="806196" w="1409700">
                  <a:moveTo>
                    <a:pt x="0" y="403098"/>
                  </a:moveTo>
                  <a:cubicBezTo>
                    <a:pt x="0" y="180467"/>
                    <a:pt x="315595" y="0"/>
                    <a:pt x="704850" y="0"/>
                  </a:cubicBezTo>
                  <a:cubicBezTo>
                    <a:pt x="1094105" y="0"/>
                    <a:pt x="1409700" y="180467"/>
                    <a:pt x="1409700" y="403098"/>
                  </a:cubicBezTo>
                  <a:cubicBezTo>
                    <a:pt x="1409700" y="625729"/>
                    <a:pt x="1094105" y="806196"/>
                    <a:pt x="704850" y="806196"/>
                  </a:cubicBezTo>
                  <a:cubicBezTo>
                    <a:pt x="315595" y="806196"/>
                    <a:pt x="0" y="625729"/>
                    <a:pt x="0" y="403098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2" id="102"/>
            <p:cNvSpPr txBox="true"/>
            <p:nvPr/>
          </p:nvSpPr>
          <p:spPr>
            <a:xfrm>
              <a:off x="0" y="-38100"/>
              <a:ext cx="1409700" cy="844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date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6376332" y="2029397"/>
            <a:ext cx="1263015" cy="604647"/>
            <a:chOff x="0" y="0"/>
            <a:chExt cx="1684020" cy="806196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684020" cy="806196"/>
            </a:xfrm>
            <a:custGeom>
              <a:avLst/>
              <a:gdLst/>
              <a:ahLst/>
              <a:cxnLst/>
              <a:rect r="r" b="b" t="t" l="l"/>
              <a:pathLst>
                <a:path h="806196" w="1684020">
                  <a:moveTo>
                    <a:pt x="0" y="403098"/>
                  </a:moveTo>
                  <a:cubicBezTo>
                    <a:pt x="0" y="180467"/>
                    <a:pt x="376936" y="0"/>
                    <a:pt x="842010" y="0"/>
                  </a:cubicBezTo>
                  <a:cubicBezTo>
                    <a:pt x="1307084" y="0"/>
                    <a:pt x="1684020" y="180467"/>
                    <a:pt x="1684020" y="403098"/>
                  </a:cubicBezTo>
                  <a:cubicBezTo>
                    <a:pt x="1684020" y="625729"/>
                    <a:pt x="1307084" y="806196"/>
                    <a:pt x="842010" y="806196"/>
                  </a:cubicBezTo>
                  <a:cubicBezTo>
                    <a:pt x="376936" y="806196"/>
                    <a:pt x="0" y="625729"/>
                    <a:pt x="0" y="403098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5" id="105"/>
            <p:cNvSpPr txBox="true"/>
            <p:nvPr/>
          </p:nvSpPr>
          <p:spPr>
            <a:xfrm>
              <a:off x="0" y="-38100"/>
              <a:ext cx="1684020" cy="844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status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14318932" y="5184076"/>
            <a:ext cx="1400175" cy="604647"/>
            <a:chOff x="0" y="0"/>
            <a:chExt cx="1866900" cy="806196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1866900" cy="806196"/>
            </a:xfrm>
            <a:custGeom>
              <a:avLst/>
              <a:gdLst/>
              <a:ahLst/>
              <a:cxnLst/>
              <a:rect r="r" b="b" t="t" l="l"/>
              <a:pathLst>
                <a:path h="806196" w="1866900">
                  <a:moveTo>
                    <a:pt x="0" y="403098"/>
                  </a:moveTo>
                  <a:cubicBezTo>
                    <a:pt x="0" y="180467"/>
                    <a:pt x="417957" y="0"/>
                    <a:pt x="933450" y="0"/>
                  </a:cubicBezTo>
                  <a:cubicBezTo>
                    <a:pt x="1448943" y="0"/>
                    <a:pt x="1866900" y="180467"/>
                    <a:pt x="1866900" y="403098"/>
                  </a:cubicBezTo>
                  <a:cubicBezTo>
                    <a:pt x="1866900" y="625729"/>
                    <a:pt x="1448943" y="806196"/>
                    <a:pt x="933450" y="806196"/>
                  </a:cubicBezTo>
                  <a:cubicBezTo>
                    <a:pt x="417957" y="806196"/>
                    <a:pt x="0" y="625729"/>
                    <a:pt x="0" y="403098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8" id="108"/>
            <p:cNvSpPr txBox="true"/>
            <p:nvPr/>
          </p:nvSpPr>
          <p:spPr>
            <a:xfrm>
              <a:off x="0" y="-38100"/>
              <a:ext cx="1866900" cy="844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method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15999143" y="5184076"/>
            <a:ext cx="1331595" cy="604647"/>
            <a:chOff x="0" y="0"/>
            <a:chExt cx="1775460" cy="806196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1775460" cy="806196"/>
            </a:xfrm>
            <a:custGeom>
              <a:avLst/>
              <a:gdLst/>
              <a:ahLst/>
              <a:cxnLst/>
              <a:rect r="r" b="b" t="t" l="l"/>
              <a:pathLst>
                <a:path h="806196" w="1775460">
                  <a:moveTo>
                    <a:pt x="0" y="403098"/>
                  </a:moveTo>
                  <a:cubicBezTo>
                    <a:pt x="0" y="180467"/>
                    <a:pt x="397510" y="0"/>
                    <a:pt x="887730" y="0"/>
                  </a:cubicBezTo>
                  <a:cubicBezTo>
                    <a:pt x="1377950" y="0"/>
                    <a:pt x="1775460" y="180467"/>
                    <a:pt x="1775460" y="403098"/>
                  </a:cubicBezTo>
                  <a:cubicBezTo>
                    <a:pt x="1775460" y="625729"/>
                    <a:pt x="1377950" y="806196"/>
                    <a:pt x="887730" y="806196"/>
                  </a:cubicBezTo>
                  <a:cubicBezTo>
                    <a:pt x="397510" y="806196"/>
                    <a:pt x="0" y="625729"/>
                    <a:pt x="0" y="403098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1" id="111"/>
            <p:cNvSpPr txBox="true"/>
            <p:nvPr/>
          </p:nvSpPr>
          <p:spPr>
            <a:xfrm>
              <a:off x="0" y="-38100"/>
              <a:ext cx="1775460" cy="844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amount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9038272" y="9230296"/>
            <a:ext cx="851535" cy="604647"/>
            <a:chOff x="0" y="0"/>
            <a:chExt cx="1135380" cy="806196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1135380" cy="806196"/>
            </a:xfrm>
            <a:custGeom>
              <a:avLst/>
              <a:gdLst/>
              <a:ahLst/>
              <a:cxnLst/>
              <a:rect r="r" b="b" t="t" l="l"/>
              <a:pathLst>
                <a:path h="806196" w="1135380">
                  <a:moveTo>
                    <a:pt x="0" y="403098"/>
                  </a:moveTo>
                  <a:cubicBezTo>
                    <a:pt x="0" y="180467"/>
                    <a:pt x="254127" y="0"/>
                    <a:pt x="567690" y="0"/>
                  </a:cubicBezTo>
                  <a:cubicBezTo>
                    <a:pt x="881253" y="0"/>
                    <a:pt x="1135380" y="180467"/>
                    <a:pt x="1135380" y="403098"/>
                  </a:cubicBezTo>
                  <a:cubicBezTo>
                    <a:pt x="1135380" y="625729"/>
                    <a:pt x="881253" y="806196"/>
                    <a:pt x="567690" y="806196"/>
                  </a:cubicBezTo>
                  <a:cubicBezTo>
                    <a:pt x="254127" y="806196"/>
                    <a:pt x="0" y="625729"/>
                    <a:pt x="0" y="403098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4" id="114"/>
            <p:cNvSpPr txBox="true"/>
            <p:nvPr/>
          </p:nvSpPr>
          <p:spPr>
            <a:xfrm>
              <a:off x="0" y="-38100"/>
              <a:ext cx="1135380" cy="844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id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10169843" y="9230296"/>
            <a:ext cx="1194435" cy="604647"/>
            <a:chOff x="0" y="0"/>
            <a:chExt cx="1592580" cy="806196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1592580" cy="806196"/>
            </a:xfrm>
            <a:custGeom>
              <a:avLst/>
              <a:gdLst/>
              <a:ahLst/>
              <a:cxnLst/>
              <a:rect r="r" b="b" t="t" l="l"/>
              <a:pathLst>
                <a:path h="806196" w="1592580">
                  <a:moveTo>
                    <a:pt x="0" y="403098"/>
                  </a:moveTo>
                  <a:cubicBezTo>
                    <a:pt x="0" y="180467"/>
                    <a:pt x="356489" y="0"/>
                    <a:pt x="796290" y="0"/>
                  </a:cubicBezTo>
                  <a:cubicBezTo>
                    <a:pt x="1236091" y="0"/>
                    <a:pt x="1592580" y="180467"/>
                    <a:pt x="1592580" y="403098"/>
                  </a:cubicBezTo>
                  <a:cubicBezTo>
                    <a:pt x="1592580" y="625729"/>
                    <a:pt x="1236091" y="806196"/>
                    <a:pt x="796290" y="806196"/>
                  </a:cubicBezTo>
                  <a:cubicBezTo>
                    <a:pt x="356489" y="806196"/>
                    <a:pt x="0" y="625729"/>
                    <a:pt x="0" y="403098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7" id="117"/>
            <p:cNvSpPr txBox="true"/>
            <p:nvPr/>
          </p:nvSpPr>
          <p:spPr>
            <a:xfrm>
              <a:off x="0" y="-38100"/>
              <a:ext cx="1592580" cy="844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name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11507152" y="9230296"/>
            <a:ext cx="1263015" cy="604647"/>
            <a:chOff x="0" y="0"/>
            <a:chExt cx="1684020" cy="806196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1684020" cy="806196"/>
            </a:xfrm>
            <a:custGeom>
              <a:avLst/>
              <a:gdLst/>
              <a:ahLst/>
              <a:cxnLst/>
              <a:rect r="r" b="b" t="t" l="l"/>
              <a:pathLst>
                <a:path h="806196" w="1684020">
                  <a:moveTo>
                    <a:pt x="0" y="403098"/>
                  </a:moveTo>
                  <a:cubicBezTo>
                    <a:pt x="0" y="180467"/>
                    <a:pt x="376936" y="0"/>
                    <a:pt x="842010" y="0"/>
                  </a:cubicBezTo>
                  <a:cubicBezTo>
                    <a:pt x="1307084" y="0"/>
                    <a:pt x="1684020" y="180467"/>
                    <a:pt x="1684020" y="403098"/>
                  </a:cubicBezTo>
                  <a:cubicBezTo>
                    <a:pt x="1684020" y="625729"/>
                    <a:pt x="1307084" y="806196"/>
                    <a:pt x="842010" y="806196"/>
                  </a:cubicBezTo>
                  <a:cubicBezTo>
                    <a:pt x="376936" y="806196"/>
                    <a:pt x="0" y="625729"/>
                    <a:pt x="0" y="403098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0" id="120"/>
            <p:cNvSpPr txBox="true"/>
            <p:nvPr/>
          </p:nvSpPr>
          <p:spPr>
            <a:xfrm>
              <a:off x="0" y="-38100"/>
              <a:ext cx="1684020" cy="844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phone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12913043" y="9230296"/>
            <a:ext cx="1057275" cy="604647"/>
            <a:chOff x="0" y="0"/>
            <a:chExt cx="1409700" cy="806196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1409700" cy="806196"/>
            </a:xfrm>
            <a:custGeom>
              <a:avLst/>
              <a:gdLst/>
              <a:ahLst/>
              <a:cxnLst/>
              <a:rect r="r" b="b" t="t" l="l"/>
              <a:pathLst>
                <a:path h="806196" w="1409700">
                  <a:moveTo>
                    <a:pt x="0" y="403098"/>
                  </a:moveTo>
                  <a:cubicBezTo>
                    <a:pt x="0" y="180467"/>
                    <a:pt x="315595" y="0"/>
                    <a:pt x="704850" y="0"/>
                  </a:cubicBezTo>
                  <a:cubicBezTo>
                    <a:pt x="1094105" y="0"/>
                    <a:pt x="1409700" y="180467"/>
                    <a:pt x="1409700" y="403098"/>
                  </a:cubicBezTo>
                  <a:cubicBezTo>
                    <a:pt x="1409700" y="625729"/>
                    <a:pt x="1094105" y="806196"/>
                    <a:pt x="704850" y="806196"/>
                  </a:cubicBezTo>
                  <a:cubicBezTo>
                    <a:pt x="315595" y="806196"/>
                    <a:pt x="0" y="625729"/>
                    <a:pt x="0" y="403098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3" id="123"/>
            <p:cNvSpPr txBox="true"/>
            <p:nvPr/>
          </p:nvSpPr>
          <p:spPr>
            <a:xfrm>
              <a:off x="0" y="-38100"/>
              <a:ext cx="1409700" cy="844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city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3223260" y="3538728"/>
            <a:ext cx="548640" cy="466344"/>
            <a:chOff x="0" y="0"/>
            <a:chExt cx="731520" cy="621792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731520" cy="621792"/>
            </a:xfrm>
            <a:custGeom>
              <a:avLst/>
              <a:gdLst/>
              <a:ahLst/>
              <a:cxnLst/>
              <a:rect r="r" b="b" t="t" l="l"/>
              <a:pathLst>
                <a:path h="621792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9058" t="0" r="-59058" b="0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47625"/>
              <a:ext cx="731520" cy="6694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5417820" y="3538728"/>
            <a:ext cx="548640" cy="466344"/>
            <a:chOff x="0" y="0"/>
            <a:chExt cx="731520" cy="621792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731520" cy="621792"/>
            </a:xfrm>
            <a:custGeom>
              <a:avLst/>
              <a:gdLst/>
              <a:ahLst/>
              <a:cxnLst/>
              <a:rect r="r" b="b" t="t" l="l"/>
              <a:pathLst>
                <a:path h="621792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9058" t="0" r="-59058" b="0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-47625"/>
              <a:ext cx="731520" cy="6694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7749540" y="3538728"/>
            <a:ext cx="548640" cy="466344"/>
            <a:chOff x="0" y="0"/>
            <a:chExt cx="731520" cy="621792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731520" cy="621792"/>
            </a:xfrm>
            <a:custGeom>
              <a:avLst/>
              <a:gdLst/>
              <a:ahLst/>
              <a:cxnLst/>
              <a:rect r="r" b="b" t="t" l="l"/>
              <a:pathLst>
                <a:path h="621792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9058" t="0" r="-59058" b="0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47625"/>
              <a:ext cx="731520" cy="6694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9944100" y="3538728"/>
            <a:ext cx="548640" cy="466344"/>
            <a:chOff x="0" y="0"/>
            <a:chExt cx="731520" cy="621792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731520" cy="621792"/>
            </a:xfrm>
            <a:custGeom>
              <a:avLst/>
              <a:gdLst/>
              <a:ahLst/>
              <a:cxnLst/>
              <a:rect r="r" b="b" t="t" l="l"/>
              <a:pathLst>
                <a:path h="621792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9058" t="0" r="-59058" b="0"/>
              </a:stretch>
            </a:blipFill>
          </p:spPr>
        </p:sp>
        <p:sp>
          <p:nvSpPr>
            <p:cNvPr name="TextBox 135" id="135"/>
            <p:cNvSpPr txBox="true"/>
            <p:nvPr/>
          </p:nvSpPr>
          <p:spPr>
            <a:xfrm>
              <a:off x="0" y="-47625"/>
              <a:ext cx="731520" cy="6694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</a:t>
              </a:r>
            </a:p>
          </p:txBody>
        </p:sp>
      </p:grpSp>
      <p:grpSp>
        <p:nvGrpSpPr>
          <p:cNvPr name="Group 136" id="136"/>
          <p:cNvGrpSpPr/>
          <p:nvPr/>
        </p:nvGrpSpPr>
        <p:grpSpPr>
          <a:xfrm rot="0">
            <a:off x="12275820" y="3538728"/>
            <a:ext cx="548640" cy="466344"/>
            <a:chOff x="0" y="0"/>
            <a:chExt cx="731520" cy="621792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731520" cy="621792"/>
            </a:xfrm>
            <a:custGeom>
              <a:avLst/>
              <a:gdLst/>
              <a:ahLst/>
              <a:cxnLst/>
              <a:rect r="r" b="b" t="t" l="l"/>
              <a:pathLst>
                <a:path h="621792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9058" t="0" r="-59058" b="0"/>
              </a:stretch>
            </a:blipFill>
          </p:spPr>
        </p:sp>
        <p:sp>
          <p:nvSpPr>
            <p:cNvPr name="TextBox 138" id="138"/>
            <p:cNvSpPr txBox="true"/>
            <p:nvPr/>
          </p:nvSpPr>
          <p:spPr>
            <a:xfrm>
              <a:off x="0" y="-47625"/>
              <a:ext cx="731520" cy="6694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39" id="139"/>
          <p:cNvGrpSpPr/>
          <p:nvPr/>
        </p:nvGrpSpPr>
        <p:grpSpPr>
          <a:xfrm rot="0">
            <a:off x="14470380" y="3538728"/>
            <a:ext cx="548640" cy="466344"/>
            <a:chOff x="0" y="0"/>
            <a:chExt cx="731520" cy="621792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731520" cy="621792"/>
            </a:xfrm>
            <a:custGeom>
              <a:avLst/>
              <a:gdLst/>
              <a:ahLst/>
              <a:cxnLst/>
              <a:rect r="r" b="b" t="t" l="l"/>
              <a:pathLst>
                <a:path h="621792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9058" t="0" r="-59058" b="0"/>
              </a:stretch>
            </a:blipFill>
          </p:spPr>
        </p:sp>
        <p:sp>
          <p:nvSpPr>
            <p:cNvPr name="TextBox 141" id="141"/>
            <p:cNvSpPr txBox="true"/>
            <p:nvPr/>
          </p:nvSpPr>
          <p:spPr>
            <a:xfrm>
              <a:off x="0" y="-47625"/>
              <a:ext cx="731520" cy="6694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</a:t>
              </a:r>
            </a:p>
          </p:txBody>
        </p:sp>
      </p:grpSp>
      <p:grpSp>
        <p:nvGrpSpPr>
          <p:cNvPr name="Group 142" id="142"/>
          <p:cNvGrpSpPr/>
          <p:nvPr/>
        </p:nvGrpSpPr>
        <p:grpSpPr>
          <a:xfrm rot="0">
            <a:off x="11494008" y="4773168"/>
            <a:ext cx="548640" cy="466344"/>
            <a:chOff x="0" y="0"/>
            <a:chExt cx="731520" cy="621792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731520" cy="621792"/>
            </a:xfrm>
            <a:custGeom>
              <a:avLst/>
              <a:gdLst/>
              <a:ahLst/>
              <a:cxnLst/>
              <a:rect r="r" b="b" t="t" l="l"/>
              <a:pathLst>
                <a:path h="621792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9058" t="0" r="-59058" b="0"/>
              </a:stretch>
            </a:blipFill>
          </p:spPr>
        </p:sp>
        <p:sp>
          <p:nvSpPr>
            <p:cNvPr name="TextBox 144" id="144"/>
            <p:cNvSpPr txBox="true"/>
            <p:nvPr/>
          </p:nvSpPr>
          <p:spPr>
            <a:xfrm>
              <a:off x="0" y="-47625"/>
              <a:ext cx="731520" cy="6694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</a:t>
              </a:r>
            </a:p>
          </p:txBody>
        </p:sp>
      </p:grpSp>
      <p:grpSp>
        <p:nvGrpSpPr>
          <p:cNvPr name="Group 145" id="145"/>
          <p:cNvGrpSpPr/>
          <p:nvPr/>
        </p:nvGrpSpPr>
        <p:grpSpPr>
          <a:xfrm rot="0">
            <a:off x="11494008" y="7242048"/>
            <a:ext cx="548640" cy="466344"/>
            <a:chOff x="0" y="0"/>
            <a:chExt cx="731520" cy="621792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731520" cy="621792"/>
            </a:xfrm>
            <a:custGeom>
              <a:avLst/>
              <a:gdLst/>
              <a:ahLst/>
              <a:cxnLst/>
              <a:rect r="r" b="b" t="t" l="l"/>
              <a:pathLst>
                <a:path h="621792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9058" t="0" r="-59058" b="0"/>
              </a:stretch>
            </a:blipFill>
          </p:spPr>
        </p:sp>
        <p:sp>
          <p:nvSpPr>
            <p:cNvPr name="TextBox 147" id="147"/>
            <p:cNvSpPr txBox="true"/>
            <p:nvPr/>
          </p:nvSpPr>
          <p:spPr>
            <a:xfrm>
              <a:off x="0" y="-47625"/>
              <a:ext cx="731520" cy="6694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05923" y="420167"/>
            <a:ext cx="13205193" cy="252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1F9E97"/>
                </a:solidFill>
                <a:latin typeface="Aptos Bold"/>
                <a:ea typeface="Aptos Bold"/>
                <a:cs typeface="Aptos Bold"/>
                <a:sym typeface="Aptos Bold"/>
              </a:rPr>
              <a:t>01 • INTRODUCTION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05923" y="924973"/>
            <a:ext cx="16362340" cy="626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2"/>
              </a:lnSpc>
            </a:pPr>
            <a:r>
              <a:rPr lang="en-US" sz="4053" b="true">
                <a:solidFill>
                  <a:srgbClr val="14274A"/>
                </a:solidFill>
                <a:latin typeface="Aptos Bold"/>
                <a:ea typeface="Aptos Bold"/>
                <a:cs typeface="Aptos Bold"/>
                <a:sym typeface="Aptos Bold"/>
              </a:rPr>
              <a:t>Project Objectives &amp; Expected Outcomes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65994" y="1744513"/>
            <a:ext cx="1054570" cy="100546"/>
            <a:chOff x="0" y="0"/>
            <a:chExt cx="1406093" cy="1340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06144" cy="134112"/>
            </a:xfrm>
            <a:custGeom>
              <a:avLst/>
              <a:gdLst/>
              <a:ahLst/>
              <a:cxnLst/>
              <a:rect r="r" b="b" t="t" l="l"/>
              <a:pathLst>
                <a:path h="134112" w="1406144">
                  <a:moveTo>
                    <a:pt x="0" y="0"/>
                  </a:moveTo>
                  <a:lnTo>
                    <a:pt x="1406144" y="0"/>
                  </a:lnTo>
                  <a:lnTo>
                    <a:pt x="1406144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1F9E97"/>
            </a:solidFill>
            <a:ln w="14299" cap="sq">
              <a:solidFill>
                <a:srgbClr val="1F9E97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05923" y="9828295"/>
            <a:ext cx="10871654" cy="13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>
                <a:solidFill>
                  <a:srgbClr val="5E6C7E"/>
                </a:solidFill>
                <a:latin typeface="Aptos"/>
                <a:ea typeface="Aptos"/>
                <a:cs typeface="Aptos"/>
                <a:sym typeface="Aptos"/>
              </a:rPr>
              <a:t>ONLINE FOOD ORDERING SYSTEM  •  MYSQL DATABASE 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732834" y="9754333"/>
            <a:ext cx="645243" cy="238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 b="true">
                <a:solidFill>
                  <a:srgbClr val="5E6C7E"/>
                </a:solidFill>
                <a:latin typeface="Aptos Bold"/>
                <a:ea typeface="Aptos Bold"/>
                <a:cs typeface="Aptos Bold"/>
                <a:sym typeface="Aptos Bold"/>
              </a:rPr>
              <a:t>03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85621" y="2321033"/>
            <a:ext cx="4760747" cy="1878197"/>
          </a:xfrm>
          <a:custGeom>
            <a:avLst/>
            <a:gdLst/>
            <a:ahLst/>
            <a:cxnLst/>
            <a:rect r="r" b="b" t="t" l="l"/>
            <a:pathLst>
              <a:path h="1878197" w="4760747">
                <a:moveTo>
                  <a:pt x="0" y="0"/>
                </a:moveTo>
                <a:lnTo>
                  <a:pt x="4760748" y="0"/>
                </a:lnTo>
                <a:lnTo>
                  <a:pt x="4760748" y="1878197"/>
                </a:lnTo>
                <a:lnTo>
                  <a:pt x="0" y="18781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00080" y="2635491"/>
            <a:ext cx="604066" cy="466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0" b="true">
                <a:solidFill>
                  <a:srgbClr val="1F9E97"/>
                </a:solidFill>
                <a:latin typeface="Aptos Bold"/>
                <a:ea typeface="Aptos Bold"/>
                <a:cs typeface="Aptos Bold"/>
                <a:sym typeface="Aptos Bold"/>
              </a:rPr>
              <a:t>01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41325" y="2594305"/>
            <a:ext cx="3294497" cy="370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0" b="true">
                <a:solidFill>
                  <a:srgbClr val="14274A"/>
                </a:solidFill>
                <a:latin typeface="Aptos Bold"/>
                <a:ea typeface="Aptos Bold"/>
                <a:cs typeface="Aptos Bold"/>
                <a:sym typeface="Aptos Bold"/>
              </a:rPr>
              <a:t>Restaurant records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41325" y="3143374"/>
            <a:ext cx="3294497" cy="686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Maintain restaurant information.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782219" y="2321033"/>
            <a:ext cx="4760747" cy="1878197"/>
          </a:xfrm>
          <a:custGeom>
            <a:avLst/>
            <a:gdLst/>
            <a:ahLst/>
            <a:cxnLst/>
            <a:rect r="r" b="b" t="t" l="l"/>
            <a:pathLst>
              <a:path h="1878197" w="4760747">
                <a:moveTo>
                  <a:pt x="0" y="0"/>
                </a:moveTo>
                <a:lnTo>
                  <a:pt x="4760747" y="0"/>
                </a:lnTo>
                <a:lnTo>
                  <a:pt x="4760747" y="1878197"/>
                </a:lnTo>
                <a:lnTo>
                  <a:pt x="0" y="18781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096677" y="2635491"/>
            <a:ext cx="604066" cy="466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0" b="true">
                <a:solidFill>
                  <a:srgbClr val="1F9E97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837913" y="2594305"/>
            <a:ext cx="3294497" cy="370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0" b="true">
                <a:solidFill>
                  <a:srgbClr val="14274A"/>
                </a:solidFill>
                <a:latin typeface="Aptos Bold"/>
                <a:ea typeface="Aptos Bold"/>
                <a:cs typeface="Aptos Bold"/>
                <a:sym typeface="Aptos Bold"/>
              </a:rPr>
              <a:t>Menu management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837913" y="3143374"/>
            <a:ext cx="3294497" cy="686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Store menu details and availability.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2478807" y="2321033"/>
            <a:ext cx="4760747" cy="1878197"/>
          </a:xfrm>
          <a:custGeom>
            <a:avLst/>
            <a:gdLst/>
            <a:ahLst/>
            <a:cxnLst/>
            <a:rect r="r" b="b" t="t" l="l"/>
            <a:pathLst>
              <a:path h="1878197" w="4760747">
                <a:moveTo>
                  <a:pt x="0" y="0"/>
                </a:moveTo>
                <a:lnTo>
                  <a:pt x="4760748" y="0"/>
                </a:lnTo>
                <a:lnTo>
                  <a:pt x="4760748" y="1878197"/>
                </a:lnTo>
                <a:lnTo>
                  <a:pt x="0" y="18781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2793266" y="2635491"/>
            <a:ext cx="604066" cy="466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0" b="true">
                <a:solidFill>
                  <a:srgbClr val="1F9E97"/>
                </a:solidFill>
                <a:latin typeface="Aptos Bold"/>
                <a:ea typeface="Aptos Bold"/>
                <a:cs typeface="Aptos Bold"/>
                <a:sym typeface="Aptos Bold"/>
              </a:rPr>
              <a:t>03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534511" y="2594305"/>
            <a:ext cx="3294497" cy="370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0" b="true">
                <a:solidFill>
                  <a:srgbClr val="14274A"/>
                </a:solidFill>
                <a:latin typeface="Aptos Bold"/>
                <a:ea typeface="Aptos Bold"/>
                <a:cs typeface="Aptos Bold"/>
                <a:sym typeface="Aptos Bold"/>
              </a:rPr>
              <a:t>Order management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534511" y="3143374"/>
            <a:ext cx="3294497" cy="686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Manage customer orders and order status.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085621" y="4723209"/>
            <a:ext cx="4760747" cy="1878197"/>
          </a:xfrm>
          <a:custGeom>
            <a:avLst/>
            <a:gdLst/>
            <a:ahLst/>
            <a:cxnLst/>
            <a:rect r="r" b="b" t="t" l="l"/>
            <a:pathLst>
              <a:path h="1878197" w="4760747">
                <a:moveTo>
                  <a:pt x="0" y="0"/>
                </a:moveTo>
                <a:lnTo>
                  <a:pt x="4760748" y="0"/>
                </a:lnTo>
                <a:lnTo>
                  <a:pt x="4760748" y="1878197"/>
                </a:lnTo>
                <a:lnTo>
                  <a:pt x="0" y="18781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400080" y="5037668"/>
            <a:ext cx="604066" cy="466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0" b="true">
                <a:solidFill>
                  <a:srgbClr val="1F9E97"/>
                </a:solidFill>
                <a:latin typeface="Aptos Bold"/>
                <a:ea typeface="Aptos Bold"/>
                <a:cs typeface="Aptos Bold"/>
                <a:sym typeface="Aptos Bold"/>
              </a:rPr>
              <a:t>04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141325" y="4996482"/>
            <a:ext cx="3294497" cy="370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0" b="true">
                <a:solidFill>
                  <a:srgbClr val="14274A"/>
                </a:solidFill>
                <a:latin typeface="Aptos Bold"/>
                <a:ea typeface="Aptos Bold"/>
                <a:cs typeface="Aptos Bold"/>
                <a:sym typeface="Aptos Bold"/>
              </a:rPr>
              <a:t>Payment tracking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141325" y="5545550"/>
            <a:ext cx="3294497" cy="686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Track payment details and status.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6782219" y="4723209"/>
            <a:ext cx="4760747" cy="1878197"/>
          </a:xfrm>
          <a:custGeom>
            <a:avLst/>
            <a:gdLst/>
            <a:ahLst/>
            <a:cxnLst/>
            <a:rect r="r" b="b" t="t" l="l"/>
            <a:pathLst>
              <a:path h="1878197" w="4760747">
                <a:moveTo>
                  <a:pt x="0" y="0"/>
                </a:moveTo>
                <a:lnTo>
                  <a:pt x="4760747" y="0"/>
                </a:lnTo>
                <a:lnTo>
                  <a:pt x="4760747" y="1878197"/>
                </a:lnTo>
                <a:lnTo>
                  <a:pt x="0" y="18781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7096677" y="5037668"/>
            <a:ext cx="604066" cy="466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0" b="true">
                <a:solidFill>
                  <a:srgbClr val="1F9E97"/>
                </a:solidFill>
                <a:latin typeface="Aptos Bold"/>
                <a:ea typeface="Aptos Bold"/>
                <a:cs typeface="Aptos Bold"/>
                <a:sym typeface="Aptos Bold"/>
              </a:rPr>
              <a:t>05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837913" y="4996482"/>
            <a:ext cx="3294497" cy="370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0" b="true">
                <a:solidFill>
                  <a:srgbClr val="14274A"/>
                </a:solidFill>
                <a:latin typeface="Aptos Bold"/>
                <a:ea typeface="Aptos Bold"/>
                <a:cs typeface="Aptos Bold"/>
                <a:sym typeface="Aptos Bold"/>
              </a:rPr>
              <a:t>Sales reporting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837913" y="5545550"/>
            <a:ext cx="3294497" cy="686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Generate restaurant sales reports.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2478807" y="4723209"/>
            <a:ext cx="4760747" cy="1878197"/>
          </a:xfrm>
          <a:custGeom>
            <a:avLst/>
            <a:gdLst/>
            <a:ahLst/>
            <a:cxnLst/>
            <a:rect r="r" b="b" t="t" l="l"/>
            <a:pathLst>
              <a:path h="1878197" w="4760747">
                <a:moveTo>
                  <a:pt x="0" y="0"/>
                </a:moveTo>
                <a:lnTo>
                  <a:pt x="4760748" y="0"/>
                </a:lnTo>
                <a:lnTo>
                  <a:pt x="4760748" y="1878197"/>
                </a:lnTo>
                <a:lnTo>
                  <a:pt x="0" y="18781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2793266" y="5037668"/>
            <a:ext cx="604066" cy="466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0" b="true">
                <a:solidFill>
                  <a:srgbClr val="1F9E97"/>
                </a:solidFill>
                <a:latin typeface="Aptos Bold"/>
                <a:ea typeface="Aptos Bold"/>
                <a:cs typeface="Aptos Bold"/>
                <a:sym typeface="Aptos Bold"/>
              </a:rPr>
              <a:t>06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534511" y="4996482"/>
            <a:ext cx="3294497" cy="370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0" b="true">
                <a:solidFill>
                  <a:srgbClr val="14274A"/>
                </a:solidFill>
                <a:latin typeface="Aptos Bold"/>
                <a:ea typeface="Aptos Bold"/>
                <a:cs typeface="Aptos Bold"/>
                <a:sym typeface="Aptos Bold"/>
              </a:rPr>
              <a:t>Customer history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534511" y="5545550"/>
            <a:ext cx="3294497" cy="686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Display customer order history.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6782219" y="7125386"/>
            <a:ext cx="4760747" cy="1878197"/>
          </a:xfrm>
          <a:custGeom>
            <a:avLst/>
            <a:gdLst/>
            <a:ahLst/>
            <a:cxnLst/>
            <a:rect r="r" b="b" t="t" l="l"/>
            <a:pathLst>
              <a:path h="1878197" w="4760747">
                <a:moveTo>
                  <a:pt x="0" y="0"/>
                </a:moveTo>
                <a:lnTo>
                  <a:pt x="4760747" y="0"/>
                </a:lnTo>
                <a:lnTo>
                  <a:pt x="4760747" y="1878196"/>
                </a:lnTo>
                <a:lnTo>
                  <a:pt x="0" y="18781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7096677" y="7439844"/>
            <a:ext cx="604066" cy="466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0" b="true">
                <a:solidFill>
                  <a:srgbClr val="1F9E97"/>
                </a:solidFill>
                <a:latin typeface="Aptos Bold"/>
                <a:ea typeface="Aptos Bold"/>
                <a:cs typeface="Aptos Bold"/>
                <a:sym typeface="Aptos Bold"/>
              </a:rPr>
              <a:t>07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837913" y="7398658"/>
            <a:ext cx="3294497" cy="370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0" b="true">
                <a:solidFill>
                  <a:srgbClr val="14274A"/>
                </a:solidFill>
                <a:latin typeface="Aptos Bold"/>
                <a:ea typeface="Aptos Bold"/>
                <a:cs typeface="Aptos Bold"/>
                <a:sym typeface="Aptos Bold"/>
              </a:rPr>
              <a:t>Popular items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837913" y="7947727"/>
            <a:ext cx="3294497" cy="686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Identify frequently ordered food items.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05923" y="420167"/>
            <a:ext cx="13205193" cy="252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1F9E97"/>
                </a:solidFill>
                <a:latin typeface="Aptos Bold"/>
                <a:ea typeface="Aptos Bold"/>
                <a:cs typeface="Aptos Bold"/>
                <a:sym typeface="Aptos Bold"/>
              </a:rPr>
              <a:t>02 • SYSTEM DESIGN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05923" y="924973"/>
            <a:ext cx="16362340" cy="626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2"/>
              </a:lnSpc>
            </a:pPr>
            <a:r>
              <a:rPr lang="en-US" sz="4053" b="true">
                <a:solidFill>
                  <a:srgbClr val="14274A"/>
                </a:solidFill>
                <a:latin typeface="Aptos Bold"/>
                <a:ea typeface="Aptos Bold"/>
                <a:cs typeface="Aptos Bold"/>
                <a:sym typeface="Aptos Bold"/>
              </a:rPr>
              <a:t>System Workflow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65994" y="1744513"/>
            <a:ext cx="1054570" cy="100546"/>
            <a:chOff x="0" y="0"/>
            <a:chExt cx="1406093" cy="1340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06144" cy="134112"/>
            </a:xfrm>
            <a:custGeom>
              <a:avLst/>
              <a:gdLst/>
              <a:ahLst/>
              <a:cxnLst/>
              <a:rect r="r" b="b" t="t" l="l"/>
              <a:pathLst>
                <a:path h="134112" w="1406144">
                  <a:moveTo>
                    <a:pt x="0" y="0"/>
                  </a:moveTo>
                  <a:lnTo>
                    <a:pt x="1406144" y="0"/>
                  </a:lnTo>
                  <a:lnTo>
                    <a:pt x="1406144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1F9E97"/>
            </a:solidFill>
            <a:ln w="14299" cap="sq">
              <a:solidFill>
                <a:srgbClr val="1F9E97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05923" y="9828295"/>
            <a:ext cx="10871654" cy="13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>
                <a:solidFill>
                  <a:srgbClr val="5E6C7E"/>
                </a:solidFill>
                <a:latin typeface="Aptos"/>
                <a:ea typeface="Aptos"/>
                <a:cs typeface="Aptos"/>
                <a:sym typeface="Aptos"/>
              </a:rPr>
              <a:t>ONLINE FOOD ORDERING SYSTEM  •  MYSQL DATABASE 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732834" y="9754333"/>
            <a:ext cx="645243" cy="238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 b="true">
                <a:solidFill>
                  <a:srgbClr val="5E6C7E"/>
                </a:solidFill>
                <a:latin typeface="Aptos Bold"/>
                <a:ea typeface="Aptos Bold"/>
                <a:cs typeface="Aptos Bold"/>
                <a:sym typeface="Aptos Bold"/>
              </a:rPr>
              <a:t>04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975808" y="2938729"/>
            <a:ext cx="1974209" cy="1740846"/>
          </a:xfrm>
          <a:custGeom>
            <a:avLst/>
            <a:gdLst/>
            <a:ahLst/>
            <a:cxnLst/>
            <a:rect r="r" b="b" t="t" l="l"/>
            <a:pathLst>
              <a:path h="1740846" w="1974209">
                <a:moveTo>
                  <a:pt x="0" y="0"/>
                </a:moveTo>
                <a:lnTo>
                  <a:pt x="1974208" y="0"/>
                </a:lnTo>
                <a:lnTo>
                  <a:pt x="1974208" y="1740846"/>
                </a:lnTo>
                <a:lnTo>
                  <a:pt x="0" y="1740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80452" y="3212011"/>
            <a:ext cx="1564929" cy="233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39276" y="3632216"/>
            <a:ext cx="1647292" cy="389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Restaurant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27472" y="4969031"/>
            <a:ext cx="2470899" cy="851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Restaurant profile</a:t>
            </a:r>
          </a:p>
        </p:txBody>
      </p:sp>
      <p:sp>
        <p:nvSpPr>
          <p:cNvPr name="AutoShape 12" id="12"/>
          <p:cNvSpPr/>
          <p:nvPr/>
        </p:nvSpPr>
        <p:spPr>
          <a:xfrm rot="71280">
            <a:off x="2924137" y="3783254"/>
            <a:ext cx="919001" cy="0"/>
          </a:xfrm>
          <a:prstGeom prst="line">
            <a:avLst/>
          </a:prstGeom>
          <a:ln cap="rnd" w="19050">
            <a:solidFill>
              <a:srgbClr val="5E6C7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3872151" y="2938729"/>
            <a:ext cx="1974209" cy="1740846"/>
          </a:xfrm>
          <a:custGeom>
            <a:avLst/>
            <a:gdLst/>
            <a:ahLst/>
            <a:cxnLst/>
            <a:rect r="r" b="b" t="t" l="l"/>
            <a:pathLst>
              <a:path h="1740846" w="1974209">
                <a:moveTo>
                  <a:pt x="0" y="0"/>
                </a:moveTo>
                <a:lnTo>
                  <a:pt x="1974208" y="0"/>
                </a:lnTo>
                <a:lnTo>
                  <a:pt x="1974208" y="1740846"/>
                </a:lnTo>
                <a:lnTo>
                  <a:pt x="0" y="17408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076795" y="3212011"/>
            <a:ext cx="1564929" cy="233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035619" y="3632216"/>
            <a:ext cx="1647292" cy="389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Menu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623815" y="4969031"/>
            <a:ext cx="2470899" cy="851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Items, price, availability</a:t>
            </a:r>
          </a:p>
        </p:txBody>
      </p:sp>
      <p:sp>
        <p:nvSpPr>
          <p:cNvPr name="AutoShape 17" id="17"/>
          <p:cNvSpPr/>
          <p:nvPr/>
        </p:nvSpPr>
        <p:spPr>
          <a:xfrm rot="71280">
            <a:off x="5820480" y="3783254"/>
            <a:ext cx="919001" cy="0"/>
          </a:xfrm>
          <a:prstGeom prst="line">
            <a:avLst/>
          </a:prstGeom>
          <a:ln cap="rnd" w="19050">
            <a:solidFill>
              <a:srgbClr val="5E6C7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6768494" y="2938729"/>
            <a:ext cx="1974209" cy="1740846"/>
          </a:xfrm>
          <a:custGeom>
            <a:avLst/>
            <a:gdLst/>
            <a:ahLst/>
            <a:cxnLst/>
            <a:rect r="r" b="b" t="t" l="l"/>
            <a:pathLst>
              <a:path h="1740846" w="1974209">
                <a:moveTo>
                  <a:pt x="0" y="0"/>
                </a:moveTo>
                <a:lnTo>
                  <a:pt x="1974208" y="0"/>
                </a:lnTo>
                <a:lnTo>
                  <a:pt x="1974208" y="1740846"/>
                </a:lnTo>
                <a:lnTo>
                  <a:pt x="0" y="1740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6973129" y="3212011"/>
            <a:ext cx="1564929" cy="233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931952" y="3632216"/>
            <a:ext cx="1647292" cy="389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Customer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520148" y="4969031"/>
            <a:ext cx="2470899" cy="851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Customer details</a:t>
            </a:r>
          </a:p>
        </p:txBody>
      </p:sp>
      <p:sp>
        <p:nvSpPr>
          <p:cNvPr name="AutoShape 22" id="22"/>
          <p:cNvSpPr/>
          <p:nvPr/>
        </p:nvSpPr>
        <p:spPr>
          <a:xfrm rot="71280">
            <a:off x="8716813" y="3783254"/>
            <a:ext cx="919001" cy="0"/>
          </a:xfrm>
          <a:prstGeom prst="line">
            <a:avLst/>
          </a:prstGeom>
          <a:ln cap="rnd" w="19050">
            <a:solidFill>
              <a:srgbClr val="5E6C7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3" id="23"/>
          <p:cNvSpPr/>
          <p:nvPr/>
        </p:nvSpPr>
        <p:spPr>
          <a:xfrm flipH="false" flipV="false" rot="0">
            <a:off x="9664827" y="2938729"/>
            <a:ext cx="1974209" cy="1740846"/>
          </a:xfrm>
          <a:custGeom>
            <a:avLst/>
            <a:gdLst/>
            <a:ahLst/>
            <a:cxnLst/>
            <a:rect r="r" b="b" t="t" l="l"/>
            <a:pathLst>
              <a:path h="1740846" w="1974209">
                <a:moveTo>
                  <a:pt x="0" y="0"/>
                </a:moveTo>
                <a:lnTo>
                  <a:pt x="1974209" y="0"/>
                </a:lnTo>
                <a:lnTo>
                  <a:pt x="1974209" y="1740846"/>
                </a:lnTo>
                <a:lnTo>
                  <a:pt x="0" y="17408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9869472" y="3212011"/>
            <a:ext cx="1564929" cy="233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04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828295" y="3632216"/>
            <a:ext cx="1647292" cy="389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Order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416491" y="4969031"/>
            <a:ext cx="2470899" cy="851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Item, quantity, date, status</a:t>
            </a:r>
          </a:p>
        </p:txBody>
      </p:sp>
      <p:sp>
        <p:nvSpPr>
          <p:cNvPr name="AutoShape 27" id="27"/>
          <p:cNvSpPr/>
          <p:nvPr/>
        </p:nvSpPr>
        <p:spPr>
          <a:xfrm rot="71280">
            <a:off x="11613156" y="3783254"/>
            <a:ext cx="919001" cy="0"/>
          </a:xfrm>
          <a:prstGeom prst="line">
            <a:avLst/>
          </a:prstGeom>
          <a:ln cap="rnd" w="19050">
            <a:solidFill>
              <a:srgbClr val="5E6C7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8" id="28"/>
          <p:cNvSpPr/>
          <p:nvPr/>
        </p:nvSpPr>
        <p:spPr>
          <a:xfrm flipH="false" flipV="false" rot="0">
            <a:off x="12561170" y="2938729"/>
            <a:ext cx="1974209" cy="1740846"/>
          </a:xfrm>
          <a:custGeom>
            <a:avLst/>
            <a:gdLst/>
            <a:ahLst/>
            <a:cxnLst/>
            <a:rect r="r" b="b" t="t" l="l"/>
            <a:pathLst>
              <a:path h="1740846" w="1974209">
                <a:moveTo>
                  <a:pt x="0" y="0"/>
                </a:moveTo>
                <a:lnTo>
                  <a:pt x="1974209" y="0"/>
                </a:lnTo>
                <a:lnTo>
                  <a:pt x="1974209" y="1740846"/>
                </a:lnTo>
                <a:lnTo>
                  <a:pt x="0" y="17408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2765815" y="3212011"/>
            <a:ext cx="1564929" cy="233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05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724628" y="3632216"/>
            <a:ext cx="1647292" cy="389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Payment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312825" y="4969031"/>
            <a:ext cx="2470899" cy="851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Method, amount, status</a:t>
            </a:r>
          </a:p>
        </p:txBody>
      </p:sp>
      <p:sp>
        <p:nvSpPr>
          <p:cNvPr name="AutoShape 32" id="32"/>
          <p:cNvSpPr/>
          <p:nvPr/>
        </p:nvSpPr>
        <p:spPr>
          <a:xfrm rot="71280">
            <a:off x="14509499" y="3783254"/>
            <a:ext cx="919001" cy="0"/>
          </a:xfrm>
          <a:prstGeom prst="line">
            <a:avLst/>
          </a:prstGeom>
          <a:ln cap="rnd" w="19050">
            <a:solidFill>
              <a:srgbClr val="5E6C7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3" id="33"/>
          <p:cNvSpPr/>
          <p:nvPr/>
        </p:nvSpPr>
        <p:spPr>
          <a:xfrm flipH="false" flipV="false" rot="0">
            <a:off x="15457503" y="2938729"/>
            <a:ext cx="1974209" cy="1740846"/>
          </a:xfrm>
          <a:custGeom>
            <a:avLst/>
            <a:gdLst/>
            <a:ahLst/>
            <a:cxnLst/>
            <a:rect r="r" b="b" t="t" l="l"/>
            <a:pathLst>
              <a:path h="1740846" w="1974209">
                <a:moveTo>
                  <a:pt x="0" y="0"/>
                </a:moveTo>
                <a:lnTo>
                  <a:pt x="1974209" y="0"/>
                </a:lnTo>
                <a:lnTo>
                  <a:pt x="1974209" y="1740846"/>
                </a:lnTo>
                <a:lnTo>
                  <a:pt x="0" y="17408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5662148" y="3212011"/>
            <a:ext cx="1564929" cy="233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06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5620971" y="3632216"/>
            <a:ext cx="1647292" cy="389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Reports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5209168" y="4969031"/>
            <a:ext cx="2470899" cy="851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History, revenue, popular items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1360160" y="7056749"/>
            <a:ext cx="15536285" cy="1191825"/>
          </a:xfrm>
          <a:custGeom>
            <a:avLst/>
            <a:gdLst/>
            <a:ahLst/>
            <a:cxnLst/>
            <a:rect r="r" b="b" t="t" l="l"/>
            <a:pathLst>
              <a:path h="1191825" w="15536285">
                <a:moveTo>
                  <a:pt x="0" y="0"/>
                </a:moveTo>
                <a:lnTo>
                  <a:pt x="15536285" y="0"/>
                </a:lnTo>
                <a:lnTo>
                  <a:pt x="15536285" y="1191825"/>
                </a:lnTo>
                <a:lnTo>
                  <a:pt x="0" y="11918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770707" y="7439844"/>
            <a:ext cx="14715134" cy="411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1"/>
              </a:lnSpc>
            </a:pPr>
            <a:r>
              <a:rPr lang="en-US" sz="2550" b="true">
                <a:solidFill>
                  <a:srgbClr val="14274A"/>
                </a:solidFill>
                <a:latin typeface="Aptos Bold"/>
                <a:ea typeface="Aptos Bold"/>
                <a:cs typeface="Aptos Bold"/>
                <a:sym typeface="Aptos Bold"/>
              </a:rPr>
              <a:t>Core flow: restaurant/menu data → customer order → payment record → operational reports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05923" y="420167"/>
            <a:ext cx="13205193" cy="252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1F9E97"/>
                </a:solidFill>
                <a:latin typeface="Aptos Bold"/>
                <a:ea typeface="Aptos Bold"/>
                <a:cs typeface="Aptos Bold"/>
                <a:sym typeface="Aptos Bold"/>
              </a:rPr>
              <a:t>02 • SYSTEM DESIGN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05923" y="924973"/>
            <a:ext cx="16362340" cy="626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2"/>
              </a:lnSpc>
            </a:pPr>
            <a:r>
              <a:rPr lang="en-US" sz="4053" b="true">
                <a:solidFill>
                  <a:srgbClr val="14274A"/>
                </a:solidFill>
                <a:latin typeface="Aptos Bold"/>
                <a:ea typeface="Aptos Bold"/>
                <a:cs typeface="Aptos Bold"/>
                <a:sym typeface="Aptos Bold"/>
              </a:rPr>
              <a:t>Database Design: Five Core Tables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65994" y="1744513"/>
            <a:ext cx="1054570" cy="100546"/>
            <a:chOff x="0" y="0"/>
            <a:chExt cx="1406093" cy="1340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06144" cy="134112"/>
            </a:xfrm>
            <a:custGeom>
              <a:avLst/>
              <a:gdLst/>
              <a:ahLst/>
              <a:cxnLst/>
              <a:rect r="r" b="b" t="t" l="l"/>
              <a:pathLst>
                <a:path h="134112" w="1406144">
                  <a:moveTo>
                    <a:pt x="0" y="0"/>
                  </a:moveTo>
                  <a:lnTo>
                    <a:pt x="1406144" y="0"/>
                  </a:lnTo>
                  <a:lnTo>
                    <a:pt x="1406144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1F9E97"/>
            </a:solidFill>
            <a:ln w="14299" cap="sq">
              <a:solidFill>
                <a:srgbClr val="1F9E97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05923" y="9828295"/>
            <a:ext cx="10871654" cy="13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>
                <a:solidFill>
                  <a:srgbClr val="5E6C7E"/>
                </a:solidFill>
                <a:latin typeface="Aptos"/>
                <a:ea typeface="Aptos"/>
                <a:cs typeface="Aptos"/>
                <a:sym typeface="Aptos"/>
              </a:rPr>
              <a:t>ONLINE FOOD ORDERING SYSTEM  •  MYSQL DATABASE 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732834" y="9754333"/>
            <a:ext cx="645243" cy="238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 b="true">
                <a:solidFill>
                  <a:srgbClr val="5E6C7E"/>
                </a:solidFill>
                <a:latin typeface="Aptos Bold"/>
                <a:ea typeface="Aptos Bold"/>
                <a:cs typeface="Aptos Bold"/>
                <a:sym typeface="Aptos Bold"/>
              </a:rPr>
              <a:t>05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16994" y="2321033"/>
            <a:ext cx="5103933" cy="2015452"/>
          </a:xfrm>
          <a:custGeom>
            <a:avLst/>
            <a:gdLst/>
            <a:ahLst/>
            <a:cxnLst/>
            <a:rect r="r" b="b" t="t" l="l"/>
            <a:pathLst>
              <a:path h="2015452" w="5103933">
                <a:moveTo>
                  <a:pt x="0" y="0"/>
                </a:moveTo>
                <a:lnTo>
                  <a:pt x="5103933" y="0"/>
                </a:lnTo>
                <a:lnTo>
                  <a:pt x="5103933" y="2015452"/>
                </a:lnTo>
                <a:lnTo>
                  <a:pt x="0" y="2015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16994" y="2321033"/>
            <a:ext cx="5103933" cy="601561"/>
            <a:chOff x="0" y="0"/>
            <a:chExt cx="6805244" cy="8020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805295" cy="802132"/>
            </a:xfrm>
            <a:custGeom>
              <a:avLst/>
              <a:gdLst/>
              <a:ahLst/>
              <a:cxnLst/>
              <a:rect r="r" b="b" t="t" l="l"/>
              <a:pathLst>
                <a:path h="802132" w="6805295">
                  <a:moveTo>
                    <a:pt x="0" y="0"/>
                  </a:moveTo>
                  <a:lnTo>
                    <a:pt x="6805295" y="0"/>
                  </a:lnTo>
                  <a:lnTo>
                    <a:pt x="6805295" y="802132"/>
                  </a:lnTo>
                  <a:lnTo>
                    <a:pt x="0" y="802132"/>
                  </a:lnTo>
                  <a:close/>
                </a:path>
              </a:pathLst>
            </a:custGeom>
            <a:solidFill>
              <a:srgbClr val="2366AD"/>
            </a:solidFill>
            <a:ln w="14299" cap="sq">
              <a:solidFill>
                <a:srgbClr val="2366AD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249089" y="2484491"/>
            <a:ext cx="4639723" cy="26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Restaurants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90266" y="3143374"/>
            <a:ext cx="4557360" cy="988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restaurant_id (PK)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restaurant_name • location • cuisine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603768" y="2321033"/>
            <a:ext cx="5103933" cy="2015452"/>
          </a:xfrm>
          <a:custGeom>
            <a:avLst/>
            <a:gdLst/>
            <a:ahLst/>
            <a:cxnLst/>
            <a:rect r="r" b="b" t="t" l="l"/>
            <a:pathLst>
              <a:path h="2015452" w="5103933">
                <a:moveTo>
                  <a:pt x="0" y="0"/>
                </a:moveTo>
                <a:lnTo>
                  <a:pt x="5103933" y="0"/>
                </a:lnTo>
                <a:lnTo>
                  <a:pt x="5103933" y="2015452"/>
                </a:lnTo>
                <a:lnTo>
                  <a:pt x="0" y="2015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6603768" y="2321033"/>
            <a:ext cx="5103933" cy="601561"/>
            <a:chOff x="0" y="0"/>
            <a:chExt cx="6805244" cy="80208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05295" cy="802132"/>
            </a:xfrm>
            <a:custGeom>
              <a:avLst/>
              <a:gdLst/>
              <a:ahLst/>
              <a:cxnLst/>
              <a:rect r="r" b="b" t="t" l="l"/>
              <a:pathLst>
                <a:path h="802132" w="6805295">
                  <a:moveTo>
                    <a:pt x="0" y="0"/>
                  </a:moveTo>
                  <a:lnTo>
                    <a:pt x="6805295" y="0"/>
                  </a:lnTo>
                  <a:lnTo>
                    <a:pt x="6805295" y="802132"/>
                  </a:lnTo>
                  <a:lnTo>
                    <a:pt x="0" y="802132"/>
                  </a:lnTo>
                  <a:close/>
                </a:path>
              </a:pathLst>
            </a:custGeom>
            <a:solidFill>
              <a:srgbClr val="1F9E97"/>
            </a:solidFill>
            <a:ln w="14299" cap="sq">
              <a:solidFill>
                <a:srgbClr val="1F9E97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6835864" y="2484491"/>
            <a:ext cx="4639723" cy="26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Menu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877050" y="3143374"/>
            <a:ext cx="4557360" cy="988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menu_id (PK) • restaurant_id (FK)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item_name • price • availability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2204268" y="2321033"/>
            <a:ext cx="5103933" cy="2015452"/>
          </a:xfrm>
          <a:custGeom>
            <a:avLst/>
            <a:gdLst/>
            <a:ahLst/>
            <a:cxnLst/>
            <a:rect r="r" b="b" t="t" l="l"/>
            <a:pathLst>
              <a:path h="2015452" w="5103933">
                <a:moveTo>
                  <a:pt x="0" y="0"/>
                </a:moveTo>
                <a:lnTo>
                  <a:pt x="5103933" y="0"/>
                </a:lnTo>
                <a:lnTo>
                  <a:pt x="5103933" y="2015452"/>
                </a:lnTo>
                <a:lnTo>
                  <a:pt x="0" y="2015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2204268" y="2321033"/>
            <a:ext cx="5103933" cy="601561"/>
            <a:chOff x="0" y="0"/>
            <a:chExt cx="6805244" cy="80208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805295" cy="802132"/>
            </a:xfrm>
            <a:custGeom>
              <a:avLst/>
              <a:gdLst/>
              <a:ahLst/>
              <a:cxnLst/>
              <a:rect r="r" b="b" t="t" l="l"/>
              <a:pathLst>
                <a:path h="802132" w="6805295">
                  <a:moveTo>
                    <a:pt x="0" y="0"/>
                  </a:moveTo>
                  <a:lnTo>
                    <a:pt x="6805295" y="0"/>
                  </a:lnTo>
                  <a:lnTo>
                    <a:pt x="6805295" y="802132"/>
                  </a:lnTo>
                  <a:lnTo>
                    <a:pt x="0" y="802132"/>
                  </a:lnTo>
                  <a:close/>
                </a:path>
              </a:pathLst>
            </a:custGeom>
            <a:solidFill>
              <a:srgbClr val="2366AD"/>
            </a:solidFill>
            <a:ln w="14299" cap="sq">
              <a:solidFill>
                <a:srgbClr val="2366AD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2436373" y="2484491"/>
            <a:ext cx="4639723" cy="26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Customers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477550" y="3143374"/>
            <a:ext cx="4557360" cy="988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customer_id (PK)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customer_name • phone • city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3830974" y="5684082"/>
            <a:ext cx="5103933" cy="2152707"/>
          </a:xfrm>
          <a:custGeom>
            <a:avLst/>
            <a:gdLst/>
            <a:ahLst/>
            <a:cxnLst/>
            <a:rect r="r" b="b" t="t" l="l"/>
            <a:pathLst>
              <a:path h="2152707" w="5103933">
                <a:moveTo>
                  <a:pt x="0" y="0"/>
                </a:moveTo>
                <a:lnTo>
                  <a:pt x="5103933" y="0"/>
                </a:lnTo>
                <a:lnTo>
                  <a:pt x="5103933" y="2152707"/>
                </a:lnTo>
                <a:lnTo>
                  <a:pt x="0" y="21527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3830974" y="5684082"/>
            <a:ext cx="5103933" cy="601561"/>
            <a:chOff x="0" y="0"/>
            <a:chExt cx="6805244" cy="80208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805295" cy="802132"/>
            </a:xfrm>
            <a:custGeom>
              <a:avLst/>
              <a:gdLst/>
              <a:ahLst/>
              <a:cxnLst/>
              <a:rect r="r" b="b" t="t" l="l"/>
              <a:pathLst>
                <a:path h="802132" w="6805295">
                  <a:moveTo>
                    <a:pt x="0" y="0"/>
                  </a:moveTo>
                  <a:lnTo>
                    <a:pt x="6805295" y="0"/>
                  </a:lnTo>
                  <a:lnTo>
                    <a:pt x="6805295" y="802132"/>
                  </a:lnTo>
                  <a:lnTo>
                    <a:pt x="0" y="802132"/>
                  </a:lnTo>
                  <a:close/>
                </a:path>
              </a:pathLst>
            </a:custGeom>
            <a:solidFill>
              <a:srgbClr val="F2B24B"/>
            </a:solidFill>
            <a:ln w="14299" cap="sq">
              <a:solidFill>
                <a:srgbClr val="F2B24B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4063070" y="5847540"/>
            <a:ext cx="4639723" cy="26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Orders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104246" y="6506423"/>
            <a:ext cx="4557360" cy="1125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order_id (PK) • customer_id (FK)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menu_id (FK) • quantity • order_date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order_status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9431474" y="5684082"/>
            <a:ext cx="5103933" cy="2152707"/>
          </a:xfrm>
          <a:custGeom>
            <a:avLst/>
            <a:gdLst/>
            <a:ahLst/>
            <a:cxnLst/>
            <a:rect r="r" b="b" t="t" l="l"/>
            <a:pathLst>
              <a:path h="2152707" w="5103933">
                <a:moveTo>
                  <a:pt x="0" y="0"/>
                </a:moveTo>
                <a:lnTo>
                  <a:pt x="5103933" y="0"/>
                </a:lnTo>
                <a:lnTo>
                  <a:pt x="5103933" y="2152707"/>
                </a:lnTo>
                <a:lnTo>
                  <a:pt x="0" y="21527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9431474" y="5684082"/>
            <a:ext cx="5103933" cy="601561"/>
            <a:chOff x="0" y="0"/>
            <a:chExt cx="6805244" cy="80208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805295" cy="802132"/>
            </a:xfrm>
            <a:custGeom>
              <a:avLst/>
              <a:gdLst/>
              <a:ahLst/>
              <a:cxnLst/>
              <a:rect r="r" b="b" t="t" l="l"/>
              <a:pathLst>
                <a:path h="802132" w="6805295">
                  <a:moveTo>
                    <a:pt x="0" y="0"/>
                  </a:moveTo>
                  <a:lnTo>
                    <a:pt x="6805295" y="0"/>
                  </a:lnTo>
                  <a:lnTo>
                    <a:pt x="6805295" y="802132"/>
                  </a:lnTo>
                  <a:lnTo>
                    <a:pt x="0" y="802132"/>
                  </a:lnTo>
                  <a:close/>
                </a:path>
              </a:pathLst>
            </a:custGeom>
            <a:solidFill>
              <a:srgbClr val="1F9E97"/>
            </a:solidFill>
            <a:ln w="14299" cap="sq">
              <a:solidFill>
                <a:srgbClr val="1F9E97"/>
              </a:solidFill>
              <a:prstDash val="solid"/>
              <a:miter/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9663570" y="5847540"/>
            <a:ext cx="4639723" cy="26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Payments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704746" y="6506423"/>
            <a:ext cx="4557360" cy="1125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payment_id (PK) • order_id (FK)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payment_method • amount • payment_status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payment_date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21638" y="4653315"/>
            <a:ext cx="4831890" cy="507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2366AD"/>
                </a:solidFill>
                <a:latin typeface="Aptos Bold"/>
                <a:ea typeface="Aptos Bold"/>
                <a:cs typeface="Aptos Bold"/>
                <a:sym typeface="Aptos Bold"/>
              </a:rPr>
              <a:t>Restaurants 1 → many Menu items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712325" y="4653315"/>
            <a:ext cx="4969164" cy="507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2366AD"/>
                </a:solidFill>
                <a:latin typeface="Aptos Bold"/>
                <a:ea typeface="Aptos Bold"/>
                <a:cs typeface="Aptos Bold"/>
                <a:sym typeface="Aptos Bold"/>
              </a:rPr>
              <a:t>Customers 1 → many Orders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271648" y="4653315"/>
            <a:ext cx="4900527" cy="507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1F9E97"/>
                </a:solidFill>
                <a:latin typeface="Aptos Bold"/>
                <a:ea typeface="Aptos Bold"/>
                <a:cs typeface="Aptos Bold"/>
                <a:sym typeface="Aptos Bold"/>
              </a:rPr>
              <a:t>Menu items 1 → many Orders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682815" y="8222266"/>
            <a:ext cx="7028164" cy="507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5E6C7E"/>
                </a:solidFill>
                <a:latin typeface="Aptos"/>
                <a:ea typeface="Aptos"/>
                <a:cs typeface="Aptos"/>
                <a:sym typeface="Aptos"/>
              </a:rPr>
              <a:t>Orders link customers, menu items and payments.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05923" y="420167"/>
            <a:ext cx="13205193" cy="252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1F9E97"/>
                </a:solidFill>
                <a:latin typeface="Aptos Bold"/>
                <a:ea typeface="Aptos Bold"/>
                <a:cs typeface="Aptos Bold"/>
                <a:sym typeface="Aptos Bold"/>
              </a:rPr>
              <a:t>03 • DATA &amp; RECORDS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05923" y="924973"/>
            <a:ext cx="16362340" cy="626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2"/>
              </a:lnSpc>
            </a:pPr>
            <a:r>
              <a:rPr lang="en-US" sz="4053" b="true">
                <a:solidFill>
                  <a:srgbClr val="14274A"/>
                </a:solidFill>
                <a:latin typeface="Aptos Bold"/>
                <a:ea typeface="Aptos Bold"/>
                <a:cs typeface="Aptos Bold"/>
                <a:sym typeface="Aptos Bold"/>
              </a:rPr>
              <a:t>Sample Dataset at a Glance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65994" y="1744513"/>
            <a:ext cx="1054570" cy="100546"/>
            <a:chOff x="0" y="0"/>
            <a:chExt cx="1406093" cy="1340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06144" cy="134112"/>
            </a:xfrm>
            <a:custGeom>
              <a:avLst/>
              <a:gdLst/>
              <a:ahLst/>
              <a:cxnLst/>
              <a:rect r="r" b="b" t="t" l="l"/>
              <a:pathLst>
                <a:path h="134112" w="1406144">
                  <a:moveTo>
                    <a:pt x="0" y="0"/>
                  </a:moveTo>
                  <a:lnTo>
                    <a:pt x="1406144" y="0"/>
                  </a:lnTo>
                  <a:lnTo>
                    <a:pt x="1406144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1F9E97"/>
            </a:solidFill>
            <a:ln w="14299" cap="sq">
              <a:solidFill>
                <a:srgbClr val="1F9E97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05923" y="9828295"/>
            <a:ext cx="10871654" cy="13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>
                <a:solidFill>
                  <a:srgbClr val="5E6C7E"/>
                </a:solidFill>
                <a:latin typeface="Aptos"/>
                <a:ea typeface="Aptos"/>
                <a:cs typeface="Aptos"/>
                <a:sym typeface="Aptos"/>
              </a:rPr>
              <a:t>ONLINE FOOD ORDERING SYSTEM  •  MYSQL DATABASE 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732834" y="9754333"/>
            <a:ext cx="645243" cy="238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 b="true">
                <a:solidFill>
                  <a:srgbClr val="5E6C7E"/>
                </a:solidFill>
                <a:latin typeface="Aptos Bold"/>
                <a:ea typeface="Aptos Bold"/>
                <a:cs typeface="Aptos Bold"/>
                <a:sym typeface="Aptos Bold"/>
              </a:rPr>
              <a:t>06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16994" y="2526935"/>
            <a:ext cx="3113589" cy="1878197"/>
          </a:xfrm>
          <a:custGeom>
            <a:avLst/>
            <a:gdLst/>
            <a:ahLst/>
            <a:cxnLst/>
            <a:rect r="r" b="b" t="t" l="l"/>
            <a:pathLst>
              <a:path h="1878197" w="3113589">
                <a:moveTo>
                  <a:pt x="0" y="0"/>
                </a:moveTo>
                <a:lnTo>
                  <a:pt x="3113589" y="0"/>
                </a:lnTo>
                <a:lnTo>
                  <a:pt x="3113589" y="1878197"/>
                </a:lnTo>
                <a:lnTo>
                  <a:pt x="0" y="18781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49089" y="2827658"/>
            <a:ext cx="2635615" cy="658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4"/>
              </a:lnSpc>
            </a:pPr>
            <a:r>
              <a:rPr lang="en-US" sz="4503" b="true">
                <a:solidFill>
                  <a:srgbClr val="2366AD"/>
                </a:solidFill>
                <a:latin typeface="Aptos Bold"/>
                <a:ea typeface="Aptos Bold"/>
                <a:cs typeface="Aptos Bold"/>
                <a:sym typeface="Aptos Bold"/>
              </a:rPr>
              <a:t>5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21638" y="3651266"/>
            <a:ext cx="2704252" cy="302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14274A"/>
                </a:solidFill>
                <a:latin typeface="Aptos Bold"/>
                <a:ea typeface="Aptos Bold"/>
                <a:cs typeface="Aptos Bold"/>
                <a:sym typeface="Aptos Bold"/>
              </a:rPr>
              <a:t>Restaurants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4489856" y="2526935"/>
            <a:ext cx="3113589" cy="1878197"/>
          </a:xfrm>
          <a:custGeom>
            <a:avLst/>
            <a:gdLst/>
            <a:ahLst/>
            <a:cxnLst/>
            <a:rect r="r" b="b" t="t" l="l"/>
            <a:pathLst>
              <a:path h="1878197" w="3113589">
                <a:moveTo>
                  <a:pt x="0" y="0"/>
                </a:moveTo>
                <a:lnTo>
                  <a:pt x="3113590" y="0"/>
                </a:lnTo>
                <a:lnTo>
                  <a:pt x="3113590" y="1878197"/>
                </a:lnTo>
                <a:lnTo>
                  <a:pt x="0" y="18781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721952" y="2827658"/>
            <a:ext cx="2635615" cy="658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4"/>
              </a:lnSpc>
            </a:pPr>
            <a:r>
              <a:rPr lang="en-US" sz="4503" b="true">
                <a:solidFill>
                  <a:srgbClr val="1F9E97"/>
                </a:solidFill>
                <a:latin typeface="Aptos Bold"/>
                <a:ea typeface="Aptos Bold"/>
                <a:cs typeface="Aptos Bold"/>
                <a:sym typeface="Aptos Bold"/>
              </a:rPr>
              <a:t>10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694501" y="3651266"/>
            <a:ext cx="2704252" cy="302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14274A"/>
                </a:solidFill>
                <a:latin typeface="Aptos Bold"/>
                <a:ea typeface="Aptos Bold"/>
                <a:cs typeface="Aptos Bold"/>
                <a:sym typeface="Aptos Bold"/>
              </a:rPr>
              <a:t>Menu items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7962719" y="2526935"/>
            <a:ext cx="3113589" cy="1878197"/>
          </a:xfrm>
          <a:custGeom>
            <a:avLst/>
            <a:gdLst/>
            <a:ahLst/>
            <a:cxnLst/>
            <a:rect r="r" b="b" t="t" l="l"/>
            <a:pathLst>
              <a:path h="1878197" w="3113589">
                <a:moveTo>
                  <a:pt x="0" y="0"/>
                </a:moveTo>
                <a:lnTo>
                  <a:pt x="3113589" y="0"/>
                </a:lnTo>
                <a:lnTo>
                  <a:pt x="3113589" y="1878197"/>
                </a:lnTo>
                <a:lnTo>
                  <a:pt x="0" y="18781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194815" y="2827658"/>
            <a:ext cx="2635615" cy="658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4"/>
              </a:lnSpc>
            </a:pPr>
            <a:r>
              <a:rPr lang="en-US" sz="4503" b="true">
                <a:solidFill>
                  <a:srgbClr val="2366AD"/>
                </a:solidFill>
                <a:latin typeface="Aptos Bold"/>
                <a:ea typeface="Aptos Bold"/>
                <a:cs typeface="Aptos Bold"/>
                <a:sym typeface="Aptos Bold"/>
              </a:rPr>
              <a:t>10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167354" y="3651266"/>
            <a:ext cx="2704252" cy="302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14274A"/>
                </a:solidFill>
                <a:latin typeface="Aptos Bold"/>
                <a:ea typeface="Aptos Bold"/>
                <a:cs typeface="Aptos Bold"/>
                <a:sym typeface="Aptos Bold"/>
              </a:rPr>
              <a:t>Customers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1435572" y="2526935"/>
            <a:ext cx="3113589" cy="1878197"/>
          </a:xfrm>
          <a:custGeom>
            <a:avLst/>
            <a:gdLst/>
            <a:ahLst/>
            <a:cxnLst/>
            <a:rect r="r" b="b" t="t" l="l"/>
            <a:pathLst>
              <a:path h="1878197" w="3113589">
                <a:moveTo>
                  <a:pt x="0" y="0"/>
                </a:moveTo>
                <a:lnTo>
                  <a:pt x="3113589" y="0"/>
                </a:lnTo>
                <a:lnTo>
                  <a:pt x="3113589" y="1878197"/>
                </a:lnTo>
                <a:lnTo>
                  <a:pt x="0" y="18781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1667668" y="2827658"/>
            <a:ext cx="2635615" cy="658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4"/>
              </a:lnSpc>
            </a:pPr>
            <a:r>
              <a:rPr lang="en-US" sz="4503" b="true">
                <a:solidFill>
                  <a:srgbClr val="F2B24B"/>
                </a:solidFill>
                <a:latin typeface="Aptos Bold"/>
                <a:ea typeface="Aptos Bold"/>
                <a:cs typeface="Aptos Bold"/>
                <a:sym typeface="Aptos Bold"/>
              </a:rPr>
              <a:t>12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640217" y="3651266"/>
            <a:ext cx="2704252" cy="302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14274A"/>
                </a:solidFill>
                <a:latin typeface="Aptos Bold"/>
                <a:ea typeface="Aptos Bold"/>
                <a:cs typeface="Aptos Bold"/>
                <a:sym typeface="Aptos Bold"/>
              </a:rPr>
              <a:t>Orders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4908435" y="2526935"/>
            <a:ext cx="3113589" cy="1878197"/>
          </a:xfrm>
          <a:custGeom>
            <a:avLst/>
            <a:gdLst/>
            <a:ahLst/>
            <a:cxnLst/>
            <a:rect r="r" b="b" t="t" l="l"/>
            <a:pathLst>
              <a:path h="1878197" w="3113589">
                <a:moveTo>
                  <a:pt x="0" y="0"/>
                </a:moveTo>
                <a:lnTo>
                  <a:pt x="3113589" y="0"/>
                </a:lnTo>
                <a:lnTo>
                  <a:pt x="3113589" y="1878197"/>
                </a:lnTo>
                <a:lnTo>
                  <a:pt x="0" y="18781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5140530" y="2827658"/>
            <a:ext cx="2635615" cy="658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4"/>
              </a:lnSpc>
            </a:pPr>
            <a:r>
              <a:rPr lang="en-US" sz="4503" b="true">
                <a:solidFill>
                  <a:srgbClr val="1F9E97"/>
                </a:solidFill>
                <a:latin typeface="Aptos Bold"/>
                <a:ea typeface="Aptos Bold"/>
                <a:cs typeface="Aptos Bold"/>
                <a:sym typeface="Aptos Bold"/>
              </a:rPr>
              <a:t>12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113079" y="3651266"/>
            <a:ext cx="2704252" cy="302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14274A"/>
                </a:solidFill>
                <a:latin typeface="Aptos Bold"/>
                <a:ea typeface="Aptos Bold"/>
                <a:cs typeface="Aptos Bold"/>
                <a:sym typeface="Aptos Bold"/>
              </a:rPr>
              <a:t>Payment records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085621" y="5135013"/>
            <a:ext cx="7917809" cy="2495798"/>
          </a:xfrm>
          <a:custGeom>
            <a:avLst/>
            <a:gdLst/>
            <a:ahLst/>
            <a:cxnLst/>
            <a:rect r="r" b="b" t="t" l="l"/>
            <a:pathLst>
              <a:path h="2495798" w="7917809">
                <a:moveTo>
                  <a:pt x="0" y="0"/>
                </a:moveTo>
                <a:lnTo>
                  <a:pt x="7917809" y="0"/>
                </a:lnTo>
                <a:lnTo>
                  <a:pt x="7917809" y="2495798"/>
                </a:lnTo>
                <a:lnTo>
                  <a:pt x="0" y="24957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1085621" y="5135013"/>
            <a:ext cx="134836" cy="2495798"/>
            <a:chOff x="0" y="0"/>
            <a:chExt cx="179781" cy="332773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79832" cy="3327781"/>
            </a:xfrm>
            <a:custGeom>
              <a:avLst/>
              <a:gdLst/>
              <a:ahLst/>
              <a:cxnLst/>
              <a:rect r="r" b="b" t="t" l="l"/>
              <a:pathLst>
                <a:path h="3327781" w="179832">
                  <a:moveTo>
                    <a:pt x="0" y="0"/>
                  </a:moveTo>
                  <a:lnTo>
                    <a:pt x="179832" y="0"/>
                  </a:lnTo>
                  <a:lnTo>
                    <a:pt x="179832" y="3327781"/>
                  </a:lnTo>
                  <a:lnTo>
                    <a:pt x="0" y="3327781"/>
                  </a:lnTo>
                  <a:close/>
                </a:path>
              </a:pathLst>
            </a:custGeom>
            <a:solidFill>
              <a:srgbClr val="2366AD"/>
            </a:solidFill>
            <a:ln w="14299" cap="sq">
              <a:solidFill>
                <a:srgbClr val="2366AD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1454991" y="5449462"/>
            <a:ext cx="7206615" cy="384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1"/>
              </a:lnSpc>
            </a:pPr>
            <a:r>
              <a:rPr lang="en-US" sz="2400" b="true">
                <a:solidFill>
                  <a:srgbClr val="14274A"/>
                </a:solidFill>
                <a:latin typeface="Aptos Bold"/>
                <a:ea typeface="Aptos Bold"/>
                <a:cs typeface="Aptos Bold"/>
                <a:sym typeface="Aptos Bold"/>
              </a:rPr>
              <a:t>Restaurant examples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54991" y="6075569"/>
            <a:ext cx="7206615" cy="1309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Spicy Kitchen — Hyderabad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Pizza Hub — Bengaluru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Burger World — Vijayawada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9321660" y="5135013"/>
            <a:ext cx="7917809" cy="2495798"/>
          </a:xfrm>
          <a:custGeom>
            <a:avLst/>
            <a:gdLst/>
            <a:ahLst/>
            <a:cxnLst/>
            <a:rect r="r" b="b" t="t" l="l"/>
            <a:pathLst>
              <a:path h="2495798" w="7917809">
                <a:moveTo>
                  <a:pt x="0" y="0"/>
                </a:moveTo>
                <a:lnTo>
                  <a:pt x="7917809" y="0"/>
                </a:lnTo>
                <a:lnTo>
                  <a:pt x="7917809" y="2495798"/>
                </a:lnTo>
                <a:lnTo>
                  <a:pt x="0" y="24957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9321660" y="5135013"/>
            <a:ext cx="134836" cy="2495798"/>
            <a:chOff x="0" y="0"/>
            <a:chExt cx="179781" cy="332773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79832" cy="3327781"/>
            </a:xfrm>
            <a:custGeom>
              <a:avLst/>
              <a:gdLst/>
              <a:ahLst/>
              <a:cxnLst/>
              <a:rect r="r" b="b" t="t" l="l"/>
              <a:pathLst>
                <a:path h="3327781" w="179832">
                  <a:moveTo>
                    <a:pt x="0" y="0"/>
                  </a:moveTo>
                  <a:lnTo>
                    <a:pt x="179832" y="0"/>
                  </a:lnTo>
                  <a:lnTo>
                    <a:pt x="179832" y="3327781"/>
                  </a:lnTo>
                  <a:lnTo>
                    <a:pt x="0" y="3327781"/>
                  </a:lnTo>
                  <a:close/>
                </a:path>
              </a:pathLst>
            </a:custGeom>
            <a:solidFill>
              <a:srgbClr val="1F9E97"/>
            </a:solidFill>
            <a:ln w="14299" cap="sq">
              <a:solidFill>
                <a:srgbClr val="1F9E97"/>
              </a:solidFill>
              <a:prstDash val="solid"/>
              <a:miter/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9691021" y="5449462"/>
            <a:ext cx="7206615" cy="384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1"/>
              </a:lnSpc>
            </a:pPr>
            <a:r>
              <a:rPr lang="en-US" sz="2400" b="true">
                <a:solidFill>
                  <a:srgbClr val="14274A"/>
                </a:solidFill>
                <a:latin typeface="Aptos Bold"/>
                <a:ea typeface="Aptos Bold"/>
                <a:cs typeface="Aptos Bold"/>
                <a:sym typeface="Aptos Bold"/>
              </a:rPr>
              <a:t>Menu examples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691021" y="6075569"/>
            <a:ext cx="7206615" cy="1309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Chicken Biryani — ₹250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Veg Pizza — ₹350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Grilled Fish — ₹450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90266" y="8222266"/>
            <a:ext cx="15676007" cy="507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0">
                <a:solidFill>
                  <a:srgbClr val="5E6C7E"/>
                </a:solidFill>
                <a:latin typeface="Aptos"/>
                <a:ea typeface="Aptos"/>
                <a:cs typeface="Aptos"/>
                <a:sym typeface="Aptos"/>
              </a:rPr>
              <a:t>The source sample uses order dates from 1–12 July 2026 and includes Delivered, Preparing and Cancelled statuses.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05923" y="420167"/>
            <a:ext cx="13205193" cy="252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1F9E97"/>
                </a:solidFill>
                <a:latin typeface="Aptos Bold"/>
                <a:ea typeface="Aptos Bold"/>
                <a:cs typeface="Aptos Bold"/>
                <a:sym typeface="Aptos Bold"/>
              </a:rPr>
              <a:t>03 • DATA &amp; RECORDS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05923" y="924973"/>
            <a:ext cx="16362340" cy="626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2"/>
              </a:lnSpc>
            </a:pPr>
            <a:r>
              <a:rPr lang="en-US" sz="4053" b="true">
                <a:solidFill>
                  <a:srgbClr val="14274A"/>
                </a:solidFill>
                <a:latin typeface="Aptos Bold"/>
                <a:ea typeface="Aptos Bold"/>
                <a:cs typeface="Aptos Bold"/>
                <a:sym typeface="Aptos Bold"/>
              </a:rPr>
              <a:t>Orders &amp; Payments: Example Records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65994" y="1744513"/>
            <a:ext cx="1054570" cy="100546"/>
            <a:chOff x="0" y="0"/>
            <a:chExt cx="1406093" cy="1340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06144" cy="134112"/>
            </a:xfrm>
            <a:custGeom>
              <a:avLst/>
              <a:gdLst/>
              <a:ahLst/>
              <a:cxnLst/>
              <a:rect r="r" b="b" t="t" l="l"/>
              <a:pathLst>
                <a:path h="134112" w="1406144">
                  <a:moveTo>
                    <a:pt x="0" y="0"/>
                  </a:moveTo>
                  <a:lnTo>
                    <a:pt x="1406144" y="0"/>
                  </a:lnTo>
                  <a:lnTo>
                    <a:pt x="1406144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1F9E97"/>
            </a:solidFill>
            <a:ln w="14299" cap="sq">
              <a:solidFill>
                <a:srgbClr val="1F9E97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05923" y="9828295"/>
            <a:ext cx="10871654" cy="13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>
                <a:solidFill>
                  <a:srgbClr val="5E6C7E"/>
                </a:solidFill>
                <a:latin typeface="Aptos"/>
                <a:ea typeface="Aptos"/>
                <a:cs typeface="Aptos"/>
                <a:sym typeface="Aptos"/>
              </a:rPr>
              <a:t>ONLINE FOOD ORDERING SYSTEM  •  MYSQL DATABASE 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732834" y="9754333"/>
            <a:ext cx="645243" cy="238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 b="true">
                <a:solidFill>
                  <a:srgbClr val="5E6C7E"/>
                </a:solidFill>
                <a:latin typeface="Aptos Bold"/>
                <a:ea typeface="Aptos Bold"/>
                <a:cs typeface="Aptos Bold"/>
                <a:sym typeface="Aptos Bold"/>
              </a:rPr>
              <a:t>07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54259" y="2348484"/>
            <a:ext cx="1672266" cy="601561"/>
            <a:chOff x="0" y="0"/>
            <a:chExt cx="2229688" cy="80208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29739" cy="802132"/>
            </a:xfrm>
            <a:custGeom>
              <a:avLst/>
              <a:gdLst/>
              <a:ahLst/>
              <a:cxnLst/>
              <a:rect r="r" b="b" t="t" l="l"/>
              <a:pathLst>
                <a:path h="802132" w="2229739">
                  <a:moveTo>
                    <a:pt x="0" y="0"/>
                  </a:moveTo>
                  <a:lnTo>
                    <a:pt x="2229739" y="0"/>
                  </a:lnTo>
                  <a:lnTo>
                    <a:pt x="2229739" y="802132"/>
                  </a:lnTo>
                  <a:lnTo>
                    <a:pt x="0" y="802132"/>
                  </a:lnTo>
                  <a:close/>
                </a:path>
              </a:pathLst>
            </a:custGeom>
            <a:solidFill>
              <a:srgbClr val="14274A"/>
            </a:solidFill>
            <a:ln w="14299" cap="sq">
              <a:solidFill>
                <a:srgbClr val="14274A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276541" y="2511952"/>
            <a:ext cx="1427664" cy="192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Order ID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2938729" y="2348484"/>
            <a:ext cx="2495798" cy="601561"/>
            <a:chOff x="0" y="0"/>
            <a:chExt cx="3327730" cy="80208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27781" cy="802132"/>
            </a:xfrm>
            <a:custGeom>
              <a:avLst/>
              <a:gdLst/>
              <a:ahLst/>
              <a:cxnLst/>
              <a:rect r="r" b="b" t="t" l="l"/>
              <a:pathLst>
                <a:path h="802132" w="3327781">
                  <a:moveTo>
                    <a:pt x="0" y="0"/>
                  </a:moveTo>
                  <a:lnTo>
                    <a:pt x="3327781" y="0"/>
                  </a:lnTo>
                  <a:lnTo>
                    <a:pt x="3327781" y="802132"/>
                  </a:lnTo>
                  <a:lnTo>
                    <a:pt x="0" y="802132"/>
                  </a:lnTo>
                  <a:close/>
                </a:path>
              </a:pathLst>
            </a:custGeom>
            <a:solidFill>
              <a:srgbClr val="14274A"/>
            </a:solidFill>
            <a:ln w="14299" cap="sq">
              <a:solidFill>
                <a:srgbClr val="14274A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3061021" y="2511952"/>
            <a:ext cx="2251272" cy="192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Customer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546808" y="2348484"/>
            <a:ext cx="3319424" cy="601561"/>
            <a:chOff x="0" y="0"/>
            <a:chExt cx="4425899" cy="80208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425950" cy="802132"/>
            </a:xfrm>
            <a:custGeom>
              <a:avLst/>
              <a:gdLst/>
              <a:ahLst/>
              <a:cxnLst/>
              <a:rect r="r" b="b" t="t" l="l"/>
              <a:pathLst>
                <a:path h="802132" w="4425950">
                  <a:moveTo>
                    <a:pt x="0" y="0"/>
                  </a:moveTo>
                  <a:lnTo>
                    <a:pt x="4425950" y="0"/>
                  </a:lnTo>
                  <a:lnTo>
                    <a:pt x="4425950" y="802132"/>
                  </a:lnTo>
                  <a:lnTo>
                    <a:pt x="0" y="802132"/>
                  </a:lnTo>
                  <a:close/>
                </a:path>
              </a:pathLst>
            </a:custGeom>
            <a:solidFill>
              <a:srgbClr val="14274A"/>
            </a:solidFill>
            <a:ln w="14299" cap="sq">
              <a:solidFill>
                <a:srgbClr val="14274A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5669090" y="2511952"/>
            <a:ext cx="3074870" cy="192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Menu item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978494" y="2348484"/>
            <a:ext cx="1123150" cy="601561"/>
            <a:chOff x="0" y="0"/>
            <a:chExt cx="1497533" cy="80208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97584" cy="802132"/>
            </a:xfrm>
            <a:custGeom>
              <a:avLst/>
              <a:gdLst/>
              <a:ahLst/>
              <a:cxnLst/>
              <a:rect r="r" b="b" t="t" l="l"/>
              <a:pathLst>
                <a:path h="802132" w="1497584">
                  <a:moveTo>
                    <a:pt x="0" y="0"/>
                  </a:moveTo>
                  <a:lnTo>
                    <a:pt x="1497584" y="0"/>
                  </a:lnTo>
                  <a:lnTo>
                    <a:pt x="1497584" y="802132"/>
                  </a:lnTo>
                  <a:lnTo>
                    <a:pt x="0" y="802132"/>
                  </a:lnTo>
                  <a:close/>
                </a:path>
              </a:pathLst>
            </a:custGeom>
            <a:solidFill>
              <a:srgbClr val="14274A"/>
            </a:solidFill>
            <a:ln w="14299" cap="sq">
              <a:solidFill>
                <a:srgbClr val="14274A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9100776" y="2511952"/>
            <a:ext cx="878596" cy="192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Qty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213896" y="2348484"/>
            <a:ext cx="2289962" cy="601561"/>
            <a:chOff x="0" y="0"/>
            <a:chExt cx="3053283" cy="80208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053334" cy="802132"/>
            </a:xfrm>
            <a:custGeom>
              <a:avLst/>
              <a:gdLst/>
              <a:ahLst/>
              <a:cxnLst/>
              <a:rect r="r" b="b" t="t" l="l"/>
              <a:pathLst>
                <a:path h="802132" w="3053334">
                  <a:moveTo>
                    <a:pt x="0" y="0"/>
                  </a:moveTo>
                  <a:lnTo>
                    <a:pt x="3053334" y="0"/>
                  </a:lnTo>
                  <a:lnTo>
                    <a:pt x="3053334" y="802132"/>
                  </a:lnTo>
                  <a:lnTo>
                    <a:pt x="0" y="802132"/>
                  </a:lnTo>
                  <a:close/>
                </a:path>
              </a:pathLst>
            </a:custGeom>
            <a:solidFill>
              <a:srgbClr val="14274A"/>
            </a:solidFill>
            <a:ln w="14299" cap="sq">
              <a:solidFill>
                <a:srgbClr val="14274A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0336178" y="2511952"/>
            <a:ext cx="2045370" cy="192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Order status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616072" y="2348484"/>
            <a:ext cx="1672266" cy="601561"/>
            <a:chOff x="0" y="0"/>
            <a:chExt cx="2229688" cy="80208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29739" cy="802132"/>
            </a:xfrm>
            <a:custGeom>
              <a:avLst/>
              <a:gdLst/>
              <a:ahLst/>
              <a:cxnLst/>
              <a:rect r="r" b="b" t="t" l="l"/>
              <a:pathLst>
                <a:path h="802132" w="2229739">
                  <a:moveTo>
                    <a:pt x="0" y="0"/>
                  </a:moveTo>
                  <a:lnTo>
                    <a:pt x="2229739" y="0"/>
                  </a:lnTo>
                  <a:lnTo>
                    <a:pt x="2229739" y="802132"/>
                  </a:lnTo>
                  <a:lnTo>
                    <a:pt x="0" y="802132"/>
                  </a:lnTo>
                  <a:close/>
                </a:path>
              </a:pathLst>
            </a:custGeom>
            <a:solidFill>
              <a:srgbClr val="14274A"/>
            </a:solidFill>
            <a:ln w="14299" cap="sq">
              <a:solidFill>
                <a:srgbClr val="14274A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2738354" y="2511952"/>
            <a:ext cx="1427664" cy="192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Payment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4469180" y="2348484"/>
            <a:ext cx="2289962" cy="601561"/>
            <a:chOff x="0" y="0"/>
            <a:chExt cx="3053283" cy="80208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053334" cy="802132"/>
            </a:xfrm>
            <a:custGeom>
              <a:avLst/>
              <a:gdLst/>
              <a:ahLst/>
              <a:cxnLst/>
              <a:rect r="r" b="b" t="t" l="l"/>
              <a:pathLst>
                <a:path h="802132" w="3053334">
                  <a:moveTo>
                    <a:pt x="0" y="0"/>
                  </a:moveTo>
                  <a:lnTo>
                    <a:pt x="3053334" y="0"/>
                  </a:lnTo>
                  <a:lnTo>
                    <a:pt x="3053334" y="802132"/>
                  </a:lnTo>
                  <a:lnTo>
                    <a:pt x="0" y="802132"/>
                  </a:lnTo>
                  <a:close/>
                </a:path>
              </a:pathLst>
            </a:custGeom>
            <a:solidFill>
              <a:srgbClr val="14274A"/>
            </a:solidFill>
            <a:ln w="14299" cap="sq">
              <a:solidFill>
                <a:srgbClr val="14274A"/>
              </a:solidFill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14591462" y="2511952"/>
            <a:ext cx="2045370" cy="192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Pay status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154259" y="2979915"/>
            <a:ext cx="1672266" cy="766248"/>
            <a:chOff x="0" y="0"/>
            <a:chExt cx="2229688" cy="102166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29739" cy="1021715"/>
            </a:xfrm>
            <a:custGeom>
              <a:avLst/>
              <a:gdLst/>
              <a:ahLst/>
              <a:cxnLst/>
              <a:rect r="r" b="b" t="t" l="l"/>
              <a:pathLst>
                <a:path h="1021715" w="2229739">
                  <a:moveTo>
                    <a:pt x="0" y="0"/>
                  </a:moveTo>
                  <a:lnTo>
                    <a:pt x="2229739" y="0"/>
                  </a:lnTo>
                  <a:lnTo>
                    <a:pt x="2229739" y="1021715"/>
                  </a:lnTo>
                  <a:lnTo>
                    <a:pt x="0" y="1021715"/>
                  </a:ln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2EC"/>
              </a:solidFill>
              <a:prstDash val="solid"/>
              <a:miter/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1276541" y="3212011"/>
            <a:ext cx="1427664" cy="26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0" b="true">
                <a:solidFill>
                  <a:srgbClr val="242F3E"/>
                </a:solidFill>
                <a:latin typeface="Aptos Bold"/>
                <a:ea typeface="Aptos Bold"/>
                <a:cs typeface="Aptos Bold"/>
                <a:sym typeface="Aptos Bold"/>
              </a:rPr>
              <a:t>401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2938729" y="2979915"/>
            <a:ext cx="2495798" cy="766248"/>
            <a:chOff x="0" y="0"/>
            <a:chExt cx="3327730" cy="102166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327781" cy="1021715"/>
            </a:xfrm>
            <a:custGeom>
              <a:avLst/>
              <a:gdLst/>
              <a:ahLst/>
              <a:cxnLst/>
              <a:rect r="r" b="b" t="t" l="l"/>
              <a:pathLst>
                <a:path h="1021715" w="3327781">
                  <a:moveTo>
                    <a:pt x="0" y="0"/>
                  </a:moveTo>
                  <a:lnTo>
                    <a:pt x="3327781" y="0"/>
                  </a:lnTo>
                  <a:lnTo>
                    <a:pt x="3327781" y="1021715"/>
                  </a:lnTo>
                  <a:lnTo>
                    <a:pt x="0" y="1021715"/>
                  </a:ln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2EC"/>
              </a:solidFill>
              <a:prstDash val="solid"/>
              <a:miter/>
            </a:ln>
          </p:spPr>
        </p:sp>
      </p:grpSp>
      <p:sp>
        <p:nvSpPr>
          <p:cNvPr name="TextBox 34" id="34"/>
          <p:cNvSpPr txBox="true"/>
          <p:nvPr/>
        </p:nvSpPr>
        <p:spPr>
          <a:xfrm rot="0">
            <a:off x="3061021" y="3212011"/>
            <a:ext cx="2251272" cy="26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Aarav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5546808" y="2979915"/>
            <a:ext cx="3319424" cy="766248"/>
            <a:chOff x="0" y="0"/>
            <a:chExt cx="4425899" cy="102166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425950" cy="1021715"/>
            </a:xfrm>
            <a:custGeom>
              <a:avLst/>
              <a:gdLst/>
              <a:ahLst/>
              <a:cxnLst/>
              <a:rect r="r" b="b" t="t" l="l"/>
              <a:pathLst>
                <a:path h="1021715" w="4425950">
                  <a:moveTo>
                    <a:pt x="0" y="0"/>
                  </a:moveTo>
                  <a:lnTo>
                    <a:pt x="4425950" y="0"/>
                  </a:lnTo>
                  <a:lnTo>
                    <a:pt x="4425950" y="1021715"/>
                  </a:lnTo>
                  <a:lnTo>
                    <a:pt x="0" y="1021715"/>
                  </a:ln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2EC"/>
              </a:solidFill>
              <a:prstDash val="solid"/>
              <a:miter/>
            </a:ln>
          </p:spPr>
        </p:sp>
      </p:grpSp>
      <p:sp>
        <p:nvSpPr>
          <p:cNvPr name="TextBox 37" id="37"/>
          <p:cNvSpPr txBox="true"/>
          <p:nvPr/>
        </p:nvSpPr>
        <p:spPr>
          <a:xfrm rot="0">
            <a:off x="5669090" y="3212011"/>
            <a:ext cx="3074870" cy="26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Chicken Biryani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8978494" y="2979915"/>
            <a:ext cx="1123150" cy="766248"/>
            <a:chOff x="0" y="0"/>
            <a:chExt cx="1497533" cy="102166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497584" cy="1021715"/>
            </a:xfrm>
            <a:custGeom>
              <a:avLst/>
              <a:gdLst/>
              <a:ahLst/>
              <a:cxnLst/>
              <a:rect r="r" b="b" t="t" l="l"/>
              <a:pathLst>
                <a:path h="1021715" w="1497584">
                  <a:moveTo>
                    <a:pt x="0" y="0"/>
                  </a:moveTo>
                  <a:lnTo>
                    <a:pt x="1497584" y="0"/>
                  </a:lnTo>
                  <a:lnTo>
                    <a:pt x="1497584" y="1021715"/>
                  </a:lnTo>
                  <a:lnTo>
                    <a:pt x="0" y="1021715"/>
                  </a:ln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2EC"/>
              </a:solidFill>
              <a:prstDash val="solid"/>
              <a:miter/>
            </a:ln>
          </p:spPr>
        </p:sp>
      </p:grpSp>
      <p:sp>
        <p:nvSpPr>
          <p:cNvPr name="TextBox 40" id="40"/>
          <p:cNvSpPr txBox="true"/>
          <p:nvPr/>
        </p:nvSpPr>
        <p:spPr>
          <a:xfrm rot="0">
            <a:off x="9100776" y="3212011"/>
            <a:ext cx="878596" cy="26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2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0213896" y="2979915"/>
            <a:ext cx="2289962" cy="766248"/>
            <a:chOff x="0" y="0"/>
            <a:chExt cx="3053283" cy="102166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053334" cy="1021715"/>
            </a:xfrm>
            <a:custGeom>
              <a:avLst/>
              <a:gdLst/>
              <a:ahLst/>
              <a:cxnLst/>
              <a:rect r="r" b="b" t="t" l="l"/>
              <a:pathLst>
                <a:path h="1021715" w="3053334">
                  <a:moveTo>
                    <a:pt x="0" y="0"/>
                  </a:moveTo>
                  <a:lnTo>
                    <a:pt x="3053334" y="0"/>
                  </a:lnTo>
                  <a:lnTo>
                    <a:pt x="3053334" y="1021715"/>
                  </a:lnTo>
                  <a:lnTo>
                    <a:pt x="0" y="1021715"/>
                  </a:ln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2EC"/>
              </a:solidFill>
              <a:prstDash val="solid"/>
              <a:miter/>
            </a:ln>
          </p:spPr>
        </p:sp>
      </p:grpSp>
      <p:sp>
        <p:nvSpPr>
          <p:cNvPr name="TextBox 43" id="43"/>
          <p:cNvSpPr txBox="true"/>
          <p:nvPr/>
        </p:nvSpPr>
        <p:spPr>
          <a:xfrm rot="0">
            <a:off x="10336178" y="3212011"/>
            <a:ext cx="2045370" cy="26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0" b="true">
                <a:solidFill>
                  <a:srgbClr val="308F66"/>
                </a:solidFill>
                <a:latin typeface="Aptos Bold"/>
                <a:ea typeface="Aptos Bold"/>
                <a:cs typeface="Aptos Bold"/>
                <a:sym typeface="Aptos Bold"/>
              </a:rPr>
              <a:t>Delivered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2616072" y="2979915"/>
            <a:ext cx="1672266" cy="766248"/>
            <a:chOff x="0" y="0"/>
            <a:chExt cx="2229688" cy="102166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229739" cy="1021715"/>
            </a:xfrm>
            <a:custGeom>
              <a:avLst/>
              <a:gdLst/>
              <a:ahLst/>
              <a:cxnLst/>
              <a:rect r="r" b="b" t="t" l="l"/>
              <a:pathLst>
                <a:path h="1021715" w="2229739">
                  <a:moveTo>
                    <a:pt x="0" y="0"/>
                  </a:moveTo>
                  <a:lnTo>
                    <a:pt x="2229739" y="0"/>
                  </a:lnTo>
                  <a:lnTo>
                    <a:pt x="2229739" y="1021715"/>
                  </a:lnTo>
                  <a:lnTo>
                    <a:pt x="0" y="1021715"/>
                  </a:ln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2EC"/>
              </a:solidFill>
              <a:prstDash val="solid"/>
              <a:miter/>
            </a:ln>
          </p:spPr>
        </p:sp>
      </p:grpSp>
      <p:sp>
        <p:nvSpPr>
          <p:cNvPr name="TextBox 46" id="46"/>
          <p:cNvSpPr txBox="true"/>
          <p:nvPr/>
        </p:nvSpPr>
        <p:spPr>
          <a:xfrm rot="0">
            <a:off x="12738354" y="3212011"/>
            <a:ext cx="1427664" cy="26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₹500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4469180" y="2979915"/>
            <a:ext cx="2289962" cy="766248"/>
            <a:chOff x="0" y="0"/>
            <a:chExt cx="3053283" cy="102166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053334" cy="1021715"/>
            </a:xfrm>
            <a:custGeom>
              <a:avLst/>
              <a:gdLst/>
              <a:ahLst/>
              <a:cxnLst/>
              <a:rect r="r" b="b" t="t" l="l"/>
              <a:pathLst>
                <a:path h="1021715" w="3053334">
                  <a:moveTo>
                    <a:pt x="0" y="0"/>
                  </a:moveTo>
                  <a:lnTo>
                    <a:pt x="3053334" y="0"/>
                  </a:lnTo>
                  <a:lnTo>
                    <a:pt x="3053334" y="1021715"/>
                  </a:lnTo>
                  <a:lnTo>
                    <a:pt x="0" y="1021715"/>
                  </a:ln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2EC"/>
              </a:solidFill>
              <a:prstDash val="solid"/>
              <a:miter/>
            </a:ln>
          </p:spPr>
        </p:sp>
      </p:grpSp>
      <p:sp>
        <p:nvSpPr>
          <p:cNvPr name="TextBox 49" id="49"/>
          <p:cNvSpPr txBox="true"/>
          <p:nvPr/>
        </p:nvSpPr>
        <p:spPr>
          <a:xfrm rot="0">
            <a:off x="14591462" y="3212011"/>
            <a:ext cx="2045370" cy="26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0" b="true">
                <a:solidFill>
                  <a:srgbClr val="308F66"/>
                </a:solidFill>
                <a:latin typeface="Aptos Bold"/>
                <a:ea typeface="Aptos Bold"/>
                <a:cs typeface="Aptos Bold"/>
                <a:sym typeface="Aptos Bold"/>
              </a:rPr>
              <a:t>Paid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154259" y="3830974"/>
            <a:ext cx="1672266" cy="766248"/>
            <a:chOff x="0" y="0"/>
            <a:chExt cx="2229688" cy="102166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229739" cy="1021715"/>
            </a:xfrm>
            <a:custGeom>
              <a:avLst/>
              <a:gdLst/>
              <a:ahLst/>
              <a:cxnLst/>
              <a:rect r="r" b="b" t="t" l="l"/>
              <a:pathLst>
                <a:path h="1021715" w="2229739">
                  <a:moveTo>
                    <a:pt x="0" y="0"/>
                  </a:moveTo>
                  <a:lnTo>
                    <a:pt x="2229739" y="0"/>
                  </a:lnTo>
                  <a:lnTo>
                    <a:pt x="2229739" y="1021715"/>
                  </a:lnTo>
                  <a:lnTo>
                    <a:pt x="0" y="1021715"/>
                  </a:lnTo>
                  <a:close/>
                </a:path>
              </a:pathLst>
            </a:custGeom>
            <a:solidFill>
              <a:srgbClr val="ECF2F8"/>
            </a:solidFill>
            <a:ln w="14299" cap="sq">
              <a:solidFill>
                <a:srgbClr val="DAE2EC"/>
              </a:solidFill>
              <a:prstDash val="solid"/>
              <a:miter/>
            </a:ln>
          </p:spPr>
        </p:sp>
      </p:grpSp>
      <p:sp>
        <p:nvSpPr>
          <p:cNvPr name="TextBox 52" id="52"/>
          <p:cNvSpPr txBox="true"/>
          <p:nvPr/>
        </p:nvSpPr>
        <p:spPr>
          <a:xfrm rot="0">
            <a:off x="1276541" y="4063070"/>
            <a:ext cx="1427664" cy="26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0" b="true">
                <a:solidFill>
                  <a:srgbClr val="242F3E"/>
                </a:solidFill>
                <a:latin typeface="Aptos Bold"/>
                <a:ea typeface="Aptos Bold"/>
                <a:cs typeface="Aptos Bold"/>
                <a:sym typeface="Aptos Bold"/>
              </a:rPr>
              <a:t>402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2938729" y="3830974"/>
            <a:ext cx="2495798" cy="766248"/>
            <a:chOff x="0" y="0"/>
            <a:chExt cx="3327730" cy="102166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327781" cy="1021715"/>
            </a:xfrm>
            <a:custGeom>
              <a:avLst/>
              <a:gdLst/>
              <a:ahLst/>
              <a:cxnLst/>
              <a:rect r="r" b="b" t="t" l="l"/>
              <a:pathLst>
                <a:path h="1021715" w="3327781">
                  <a:moveTo>
                    <a:pt x="0" y="0"/>
                  </a:moveTo>
                  <a:lnTo>
                    <a:pt x="3327781" y="0"/>
                  </a:lnTo>
                  <a:lnTo>
                    <a:pt x="3327781" y="1021715"/>
                  </a:lnTo>
                  <a:lnTo>
                    <a:pt x="0" y="1021715"/>
                  </a:lnTo>
                  <a:close/>
                </a:path>
              </a:pathLst>
            </a:custGeom>
            <a:solidFill>
              <a:srgbClr val="ECF2F8"/>
            </a:solidFill>
            <a:ln w="14299" cap="sq">
              <a:solidFill>
                <a:srgbClr val="DAE2EC"/>
              </a:solidFill>
              <a:prstDash val="solid"/>
              <a:miter/>
            </a:ln>
          </p:spPr>
        </p:sp>
      </p:grpSp>
      <p:sp>
        <p:nvSpPr>
          <p:cNvPr name="TextBox 55" id="55"/>
          <p:cNvSpPr txBox="true"/>
          <p:nvPr/>
        </p:nvSpPr>
        <p:spPr>
          <a:xfrm rot="0">
            <a:off x="3061021" y="4063070"/>
            <a:ext cx="2251272" cy="26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Bhavya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5546808" y="3830974"/>
            <a:ext cx="3319424" cy="766248"/>
            <a:chOff x="0" y="0"/>
            <a:chExt cx="4425899" cy="102166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425950" cy="1021715"/>
            </a:xfrm>
            <a:custGeom>
              <a:avLst/>
              <a:gdLst/>
              <a:ahLst/>
              <a:cxnLst/>
              <a:rect r="r" b="b" t="t" l="l"/>
              <a:pathLst>
                <a:path h="1021715" w="4425950">
                  <a:moveTo>
                    <a:pt x="0" y="0"/>
                  </a:moveTo>
                  <a:lnTo>
                    <a:pt x="4425950" y="0"/>
                  </a:lnTo>
                  <a:lnTo>
                    <a:pt x="4425950" y="1021715"/>
                  </a:lnTo>
                  <a:lnTo>
                    <a:pt x="0" y="1021715"/>
                  </a:lnTo>
                  <a:close/>
                </a:path>
              </a:pathLst>
            </a:custGeom>
            <a:solidFill>
              <a:srgbClr val="ECF2F8"/>
            </a:solidFill>
            <a:ln w="14299" cap="sq">
              <a:solidFill>
                <a:srgbClr val="DAE2EC"/>
              </a:solidFill>
              <a:prstDash val="solid"/>
              <a:miter/>
            </a:ln>
          </p:spPr>
        </p:sp>
      </p:grpSp>
      <p:sp>
        <p:nvSpPr>
          <p:cNvPr name="TextBox 58" id="58"/>
          <p:cNvSpPr txBox="true"/>
          <p:nvPr/>
        </p:nvSpPr>
        <p:spPr>
          <a:xfrm rot="0">
            <a:off x="5669090" y="4063070"/>
            <a:ext cx="3074870" cy="26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Veg Pizza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8978494" y="3830974"/>
            <a:ext cx="1123150" cy="766248"/>
            <a:chOff x="0" y="0"/>
            <a:chExt cx="1497533" cy="102166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497584" cy="1021715"/>
            </a:xfrm>
            <a:custGeom>
              <a:avLst/>
              <a:gdLst/>
              <a:ahLst/>
              <a:cxnLst/>
              <a:rect r="r" b="b" t="t" l="l"/>
              <a:pathLst>
                <a:path h="1021715" w="1497584">
                  <a:moveTo>
                    <a:pt x="0" y="0"/>
                  </a:moveTo>
                  <a:lnTo>
                    <a:pt x="1497584" y="0"/>
                  </a:lnTo>
                  <a:lnTo>
                    <a:pt x="1497584" y="1021715"/>
                  </a:lnTo>
                  <a:lnTo>
                    <a:pt x="0" y="1021715"/>
                  </a:lnTo>
                  <a:close/>
                </a:path>
              </a:pathLst>
            </a:custGeom>
            <a:solidFill>
              <a:srgbClr val="ECF2F8"/>
            </a:solidFill>
            <a:ln w="14299" cap="sq">
              <a:solidFill>
                <a:srgbClr val="DAE2EC"/>
              </a:solidFill>
              <a:prstDash val="solid"/>
              <a:miter/>
            </a:ln>
          </p:spPr>
        </p:sp>
      </p:grpSp>
      <p:sp>
        <p:nvSpPr>
          <p:cNvPr name="TextBox 61" id="61"/>
          <p:cNvSpPr txBox="true"/>
          <p:nvPr/>
        </p:nvSpPr>
        <p:spPr>
          <a:xfrm rot="0">
            <a:off x="9100776" y="4063070"/>
            <a:ext cx="878596" cy="26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1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10213896" y="3830974"/>
            <a:ext cx="2289962" cy="766248"/>
            <a:chOff x="0" y="0"/>
            <a:chExt cx="3053283" cy="102166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053334" cy="1021715"/>
            </a:xfrm>
            <a:custGeom>
              <a:avLst/>
              <a:gdLst/>
              <a:ahLst/>
              <a:cxnLst/>
              <a:rect r="r" b="b" t="t" l="l"/>
              <a:pathLst>
                <a:path h="1021715" w="3053334">
                  <a:moveTo>
                    <a:pt x="0" y="0"/>
                  </a:moveTo>
                  <a:lnTo>
                    <a:pt x="3053334" y="0"/>
                  </a:lnTo>
                  <a:lnTo>
                    <a:pt x="3053334" y="1021715"/>
                  </a:lnTo>
                  <a:lnTo>
                    <a:pt x="0" y="1021715"/>
                  </a:lnTo>
                  <a:close/>
                </a:path>
              </a:pathLst>
            </a:custGeom>
            <a:solidFill>
              <a:srgbClr val="ECF2F8"/>
            </a:solidFill>
            <a:ln w="14299" cap="sq">
              <a:solidFill>
                <a:srgbClr val="DAE2EC"/>
              </a:solidFill>
              <a:prstDash val="solid"/>
              <a:miter/>
            </a:ln>
          </p:spPr>
        </p:sp>
      </p:grpSp>
      <p:sp>
        <p:nvSpPr>
          <p:cNvPr name="TextBox 64" id="64"/>
          <p:cNvSpPr txBox="true"/>
          <p:nvPr/>
        </p:nvSpPr>
        <p:spPr>
          <a:xfrm rot="0">
            <a:off x="10336178" y="4063070"/>
            <a:ext cx="2045370" cy="26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0" b="true">
                <a:solidFill>
                  <a:srgbClr val="308F66"/>
                </a:solidFill>
                <a:latin typeface="Aptos Bold"/>
                <a:ea typeface="Aptos Bold"/>
                <a:cs typeface="Aptos Bold"/>
                <a:sym typeface="Aptos Bold"/>
              </a:rPr>
              <a:t>Delivered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12616072" y="3830974"/>
            <a:ext cx="1672266" cy="766248"/>
            <a:chOff x="0" y="0"/>
            <a:chExt cx="2229688" cy="102166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229739" cy="1021715"/>
            </a:xfrm>
            <a:custGeom>
              <a:avLst/>
              <a:gdLst/>
              <a:ahLst/>
              <a:cxnLst/>
              <a:rect r="r" b="b" t="t" l="l"/>
              <a:pathLst>
                <a:path h="1021715" w="2229739">
                  <a:moveTo>
                    <a:pt x="0" y="0"/>
                  </a:moveTo>
                  <a:lnTo>
                    <a:pt x="2229739" y="0"/>
                  </a:lnTo>
                  <a:lnTo>
                    <a:pt x="2229739" y="1021715"/>
                  </a:lnTo>
                  <a:lnTo>
                    <a:pt x="0" y="1021715"/>
                  </a:lnTo>
                  <a:close/>
                </a:path>
              </a:pathLst>
            </a:custGeom>
            <a:solidFill>
              <a:srgbClr val="ECF2F8"/>
            </a:solidFill>
            <a:ln w="14299" cap="sq">
              <a:solidFill>
                <a:srgbClr val="DAE2EC"/>
              </a:solidFill>
              <a:prstDash val="solid"/>
              <a:miter/>
            </a:ln>
          </p:spPr>
        </p:sp>
      </p:grpSp>
      <p:sp>
        <p:nvSpPr>
          <p:cNvPr name="TextBox 67" id="67"/>
          <p:cNvSpPr txBox="true"/>
          <p:nvPr/>
        </p:nvSpPr>
        <p:spPr>
          <a:xfrm rot="0">
            <a:off x="12738354" y="4063070"/>
            <a:ext cx="1427664" cy="26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₹350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14469180" y="3830974"/>
            <a:ext cx="2289962" cy="766248"/>
            <a:chOff x="0" y="0"/>
            <a:chExt cx="3053283" cy="102166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053334" cy="1021715"/>
            </a:xfrm>
            <a:custGeom>
              <a:avLst/>
              <a:gdLst/>
              <a:ahLst/>
              <a:cxnLst/>
              <a:rect r="r" b="b" t="t" l="l"/>
              <a:pathLst>
                <a:path h="1021715" w="3053334">
                  <a:moveTo>
                    <a:pt x="0" y="0"/>
                  </a:moveTo>
                  <a:lnTo>
                    <a:pt x="3053334" y="0"/>
                  </a:lnTo>
                  <a:lnTo>
                    <a:pt x="3053334" y="1021715"/>
                  </a:lnTo>
                  <a:lnTo>
                    <a:pt x="0" y="1021715"/>
                  </a:lnTo>
                  <a:close/>
                </a:path>
              </a:pathLst>
            </a:custGeom>
            <a:solidFill>
              <a:srgbClr val="ECF2F8"/>
            </a:solidFill>
            <a:ln w="14299" cap="sq">
              <a:solidFill>
                <a:srgbClr val="DAE2EC"/>
              </a:solidFill>
              <a:prstDash val="solid"/>
              <a:miter/>
            </a:ln>
          </p:spPr>
        </p:sp>
      </p:grpSp>
      <p:sp>
        <p:nvSpPr>
          <p:cNvPr name="TextBox 70" id="70"/>
          <p:cNvSpPr txBox="true"/>
          <p:nvPr/>
        </p:nvSpPr>
        <p:spPr>
          <a:xfrm rot="0">
            <a:off x="14591462" y="4063070"/>
            <a:ext cx="2045370" cy="26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0" b="true">
                <a:solidFill>
                  <a:srgbClr val="308F66"/>
                </a:solidFill>
                <a:latin typeface="Aptos Bold"/>
                <a:ea typeface="Aptos Bold"/>
                <a:cs typeface="Aptos Bold"/>
                <a:sym typeface="Aptos Bold"/>
              </a:rPr>
              <a:t>Paid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1154259" y="4682023"/>
            <a:ext cx="1672266" cy="766248"/>
            <a:chOff x="0" y="0"/>
            <a:chExt cx="2229688" cy="102166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229739" cy="1021715"/>
            </a:xfrm>
            <a:custGeom>
              <a:avLst/>
              <a:gdLst/>
              <a:ahLst/>
              <a:cxnLst/>
              <a:rect r="r" b="b" t="t" l="l"/>
              <a:pathLst>
                <a:path h="1021715" w="2229739">
                  <a:moveTo>
                    <a:pt x="0" y="0"/>
                  </a:moveTo>
                  <a:lnTo>
                    <a:pt x="2229739" y="0"/>
                  </a:lnTo>
                  <a:lnTo>
                    <a:pt x="2229739" y="1021715"/>
                  </a:lnTo>
                  <a:lnTo>
                    <a:pt x="0" y="1021715"/>
                  </a:ln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2EC"/>
              </a:solidFill>
              <a:prstDash val="solid"/>
              <a:miter/>
            </a:ln>
          </p:spPr>
        </p:sp>
      </p:grpSp>
      <p:sp>
        <p:nvSpPr>
          <p:cNvPr name="TextBox 73" id="73"/>
          <p:cNvSpPr txBox="true"/>
          <p:nvPr/>
        </p:nvSpPr>
        <p:spPr>
          <a:xfrm rot="0">
            <a:off x="1276541" y="4914128"/>
            <a:ext cx="1427664" cy="26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0" b="true">
                <a:solidFill>
                  <a:srgbClr val="242F3E"/>
                </a:solidFill>
                <a:latin typeface="Aptos Bold"/>
                <a:ea typeface="Aptos Bold"/>
                <a:cs typeface="Aptos Bold"/>
                <a:sym typeface="Aptos Bold"/>
              </a:rPr>
              <a:t>403</a:t>
            </a:r>
          </a:p>
        </p:txBody>
      </p:sp>
      <p:grpSp>
        <p:nvGrpSpPr>
          <p:cNvPr name="Group 74" id="74"/>
          <p:cNvGrpSpPr/>
          <p:nvPr/>
        </p:nvGrpSpPr>
        <p:grpSpPr>
          <a:xfrm rot="0">
            <a:off x="2938729" y="4682023"/>
            <a:ext cx="2495798" cy="766248"/>
            <a:chOff x="0" y="0"/>
            <a:chExt cx="3327730" cy="1021664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3327781" cy="1021715"/>
            </a:xfrm>
            <a:custGeom>
              <a:avLst/>
              <a:gdLst/>
              <a:ahLst/>
              <a:cxnLst/>
              <a:rect r="r" b="b" t="t" l="l"/>
              <a:pathLst>
                <a:path h="1021715" w="3327781">
                  <a:moveTo>
                    <a:pt x="0" y="0"/>
                  </a:moveTo>
                  <a:lnTo>
                    <a:pt x="3327781" y="0"/>
                  </a:lnTo>
                  <a:lnTo>
                    <a:pt x="3327781" y="1021715"/>
                  </a:lnTo>
                  <a:lnTo>
                    <a:pt x="0" y="1021715"/>
                  </a:ln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2EC"/>
              </a:solidFill>
              <a:prstDash val="solid"/>
              <a:miter/>
            </a:ln>
          </p:spPr>
        </p:sp>
      </p:grpSp>
      <p:sp>
        <p:nvSpPr>
          <p:cNvPr name="TextBox 76" id="76"/>
          <p:cNvSpPr txBox="true"/>
          <p:nvPr/>
        </p:nvSpPr>
        <p:spPr>
          <a:xfrm rot="0">
            <a:off x="3061021" y="4914128"/>
            <a:ext cx="2251272" cy="26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Charan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5546808" y="4682023"/>
            <a:ext cx="3319424" cy="766248"/>
            <a:chOff x="0" y="0"/>
            <a:chExt cx="4425899" cy="102166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425950" cy="1021715"/>
            </a:xfrm>
            <a:custGeom>
              <a:avLst/>
              <a:gdLst/>
              <a:ahLst/>
              <a:cxnLst/>
              <a:rect r="r" b="b" t="t" l="l"/>
              <a:pathLst>
                <a:path h="1021715" w="4425950">
                  <a:moveTo>
                    <a:pt x="0" y="0"/>
                  </a:moveTo>
                  <a:lnTo>
                    <a:pt x="4425950" y="0"/>
                  </a:lnTo>
                  <a:lnTo>
                    <a:pt x="4425950" y="1021715"/>
                  </a:lnTo>
                  <a:lnTo>
                    <a:pt x="0" y="1021715"/>
                  </a:ln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2EC"/>
              </a:solidFill>
              <a:prstDash val="solid"/>
              <a:miter/>
            </a:ln>
          </p:spPr>
        </p:sp>
      </p:grpSp>
      <p:sp>
        <p:nvSpPr>
          <p:cNvPr name="TextBox 79" id="79"/>
          <p:cNvSpPr txBox="true"/>
          <p:nvPr/>
        </p:nvSpPr>
        <p:spPr>
          <a:xfrm rot="0">
            <a:off x="5669090" y="4914128"/>
            <a:ext cx="3074870" cy="26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Noodles</a:t>
            </a:r>
          </a:p>
        </p:txBody>
      </p:sp>
      <p:grpSp>
        <p:nvGrpSpPr>
          <p:cNvPr name="Group 80" id="80"/>
          <p:cNvGrpSpPr/>
          <p:nvPr/>
        </p:nvGrpSpPr>
        <p:grpSpPr>
          <a:xfrm rot="0">
            <a:off x="8978494" y="4682023"/>
            <a:ext cx="1123150" cy="766248"/>
            <a:chOff x="0" y="0"/>
            <a:chExt cx="1497533" cy="1021664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497584" cy="1021715"/>
            </a:xfrm>
            <a:custGeom>
              <a:avLst/>
              <a:gdLst/>
              <a:ahLst/>
              <a:cxnLst/>
              <a:rect r="r" b="b" t="t" l="l"/>
              <a:pathLst>
                <a:path h="1021715" w="1497584">
                  <a:moveTo>
                    <a:pt x="0" y="0"/>
                  </a:moveTo>
                  <a:lnTo>
                    <a:pt x="1497584" y="0"/>
                  </a:lnTo>
                  <a:lnTo>
                    <a:pt x="1497584" y="1021715"/>
                  </a:lnTo>
                  <a:lnTo>
                    <a:pt x="0" y="1021715"/>
                  </a:ln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2EC"/>
              </a:solidFill>
              <a:prstDash val="solid"/>
              <a:miter/>
            </a:ln>
          </p:spPr>
        </p:sp>
      </p:grpSp>
      <p:sp>
        <p:nvSpPr>
          <p:cNvPr name="TextBox 82" id="82"/>
          <p:cNvSpPr txBox="true"/>
          <p:nvPr/>
        </p:nvSpPr>
        <p:spPr>
          <a:xfrm rot="0">
            <a:off x="9100776" y="4914128"/>
            <a:ext cx="878596" cy="26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3</a:t>
            </a:r>
          </a:p>
        </p:txBody>
      </p:sp>
      <p:grpSp>
        <p:nvGrpSpPr>
          <p:cNvPr name="Group 83" id="83"/>
          <p:cNvGrpSpPr/>
          <p:nvPr/>
        </p:nvGrpSpPr>
        <p:grpSpPr>
          <a:xfrm rot="0">
            <a:off x="10213896" y="4682023"/>
            <a:ext cx="2289962" cy="766248"/>
            <a:chOff x="0" y="0"/>
            <a:chExt cx="3053283" cy="1021664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3053334" cy="1021715"/>
            </a:xfrm>
            <a:custGeom>
              <a:avLst/>
              <a:gdLst/>
              <a:ahLst/>
              <a:cxnLst/>
              <a:rect r="r" b="b" t="t" l="l"/>
              <a:pathLst>
                <a:path h="1021715" w="3053334">
                  <a:moveTo>
                    <a:pt x="0" y="0"/>
                  </a:moveTo>
                  <a:lnTo>
                    <a:pt x="3053334" y="0"/>
                  </a:lnTo>
                  <a:lnTo>
                    <a:pt x="3053334" y="1021715"/>
                  </a:lnTo>
                  <a:lnTo>
                    <a:pt x="0" y="1021715"/>
                  </a:ln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2EC"/>
              </a:solidFill>
              <a:prstDash val="solid"/>
              <a:miter/>
            </a:ln>
          </p:spPr>
        </p:sp>
      </p:grpSp>
      <p:sp>
        <p:nvSpPr>
          <p:cNvPr name="TextBox 85" id="85"/>
          <p:cNvSpPr txBox="true"/>
          <p:nvPr/>
        </p:nvSpPr>
        <p:spPr>
          <a:xfrm rot="0">
            <a:off x="10336178" y="4914128"/>
            <a:ext cx="2045370" cy="26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0" b="true">
                <a:solidFill>
                  <a:srgbClr val="F2B24B"/>
                </a:solidFill>
                <a:latin typeface="Aptos Bold"/>
                <a:ea typeface="Aptos Bold"/>
                <a:cs typeface="Aptos Bold"/>
                <a:sym typeface="Aptos Bold"/>
              </a:rPr>
              <a:t>Preparing</a:t>
            </a:r>
          </a:p>
        </p:txBody>
      </p:sp>
      <p:grpSp>
        <p:nvGrpSpPr>
          <p:cNvPr name="Group 86" id="86"/>
          <p:cNvGrpSpPr/>
          <p:nvPr/>
        </p:nvGrpSpPr>
        <p:grpSpPr>
          <a:xfrm rot="0">
            <a:off x="12616072" y="4682023"/>
            <a:ext cx="1672266" cy="766248"/>
            <a:chOff x="0" y="0"/>
            <a:chExt cx="2229688" cy="1021664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229739" cy="1021715"/>
            </a:xfrm>
            <a:custGeom>
              <a:avLst/>
              <a:gdLst/>
              <a:ahLst/>
              <a:cxnLst/>
              <a:rect r="r" b="b" t="t" l="l"/>
              <a:pathLst>
                <a:path h="1021715" w="2229739">
                  <a:moveTo>
                    <a:pt x="0" y="0"/>
                  </a:moveTo>
                  <a:lnTo>
                    <a:pt x="2229739" y="0"/>
                  </a:lnTo>
                  <a:lnTo>
                    <a:pt x="2229739" y="1021715"/>
                  </a:lnTo>
                  <a:lnTo>
                    <a:pt x="0" y="1021715"/>
                  </a:ln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2EC"/>
              </a:solidFill>
              <a:prstDash val="solid"/>
              <a:miter/>
            </a:ln>
          </p:spPr>
        </p:sp>
      </p:grpSp>
      <p:sp>
        <p:nvSpPr>
          <p:cNvPr name="TextBox 88" id="88"/>
          <p:cNvSpPr txBox="true"/>
          <p:nvPr/>
        </p:nvSpPr>
        <p:spPr>
          <a:xfrm rot="0">
            <a:off x="12738354" y="4914128"/>
            <a:ext cx="1427664" cy="26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₹660</a:t>
            </a:r>
          </a:p>
        </p:txBody>
      </p:sp>
      <p:grpSp>
        <p:nvGrpSpPr>
          <p:cNvPr name="Group 89" id="89"/>
          <p:cNvGrpSpPr/>
          <p:nvPr/>
        </p:nvGrpSpPr>
        <p:grpSpPr>
          <a:xfrm rot="0">
            <a:off x="14469180" y="4682023"/>
            <a:ext cx="2289962" cy="766248"/>
            <a:chOff x="0" y="0"/>
            <a:chExt cx="3053283" cy="1021664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3053334" cy="1021715"/>
            </a:xfrm>
            <a:custGeom>
              <a:avLst/>
              <a:gdLst/>
              <a:ahLst/>
              <a:cxnLst/>
              <a:rect r="r" b="b" t="t" l="l"/>
              <a:pathLst>
                <a:path h="1021715" w="3053334">
                  <a:moveTo>
                    <a:pt x="0" y="0"/>
                  </a:moveTo>
                  <a:lnTo>
                    <a:pt x="3053334" y="0"/>
                  </a:lnTo>
                  <a:lnTo>
                    <a:pt x="3053334" y="1021715"/>
                  </a:lnTo>
                  <a:lnTo>
                    <a:pt x="0" y="1021715"/>
                  </a:ln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2EC"/>
              </a:solidFill>
              <a:prstDash val="solid"/>
              <a:miter/>
            </a:ln>
          </p:spPr>
        </p:sp>
      </p:grpSp>
      <p:sp>
        <p:nvSpPr>
          <p:cNvPr name="TextBox 91" id="91"/>
          <p:cNvSpPr txBox="true"/>
          <p:nvPr/>
        </p:nvSpPr>
        <p:spPr>
          <a:xfrm rot="0">
            <a:off x="14591462" y="4914128"/>
            <a:ext cx="2045370" cy="26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0" b="true">
                <a:solidFill>
                  <a:srgbClr val="308F66"/>
                </a:solidFill>
                <a:latin typeface="Aptos Bold"/>
                <a:ea typeface="Aptos Bold"/>
                <a:cs typeface="Aptos Bold"/>
                <a:sym typeface="Aptos Bold"/>
              </a:rPr>
              <a:t>Paid</a:t>
            </a:r>
          </a:p>
        </p:txBody>
      </p:sp>
      <p:grpSp>
        <p:nvGrpSpPr>
          <p:cNvPr name="Group 92" id="92"/>
          <p:cNvGrpSpPr/>
          <p:nvPr/>
        </p:nvGrpSpPr>
        <p:grpSpPr>
          <a:xfrm rot="0">
            <a:off x="1154259" y="5533082"/>
            <a:ext cx="1672266" cy="766248"/>
            <a:chOff x="0" y="0"/>
            <a:chExt cx="2229688" cy="1021664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229739" cy="1021715"/>
            </a:xfrm>
            <a:custGeom>
              <a:avLst/>
              <a:gdLst/>
              <a:ahLst/>
              <a:cxnLst/>
              <a:rect r="r" b="b" t="t" l="l"/>
              <a:pathLst>
                <a:path h="1021715" w="2229739">
                  <a:moveTo>
                    <a:pt x="0" y="0"/>
                  </a:moveTo>
                  <a:lnTo>
                    <a:pt x="2229739" y="0"/>
                  </a:lnTo>
                  <a:lnTo>
                    <a:pt x="2229739" y="1021715"/>
                  </a:lnTo>
                  <a:lnTo>
                    <a:pt x="0" y="1021715"/>
                  </a:lnTo>
                  <a:close/>
                </a:path>
              </a:pathLst>
            </a:custGeom>
            <a:solidFill>
              <a:srgbClr val="ECF2F8"/>
            </a:solidFill>
            <a:ln w="14299" cap="sq">
              <a:solidFill>
                <a:srgbClr val="DAE2EC"/>
              </a:solidFill>
              <a:prstDash val="solid"/>
              <a:miter/>
            </a:ln>
          </p:spPr>
        </p:sp>
      </p:grpSp>
      <p:sp>
        <p:nvSpPr>
          <p:cNvPr name="TextBox 94" id="94"/>
          <p:cNvSpPr txBox="true"/>
          <p:nvPr/>
        </p:nvSpPr>
        <p:spPr>
          <a:xfrm rot="0">
            <a:off x="1276541" y="5765178"/>
            <a:ext cx="1427664" cy="26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0" b="true">
                <a:solidFill>
                  <a:srgbClr val="242F3E"/>
                </a:solidFill>
                <a:latin typeface="Aptos Bold"/>
                <a:ea typeface="Aptos Bold"/>
                <a:cs typeface="Aptos Bold"/>
                <a:sym typeface="Aptos Bold"/>
              </a:rPr>
              <a:t>405</a:t>
            </a:r>
          </a:p>
        </p:txBody>
      </p:sp>
      <p:grpSp>
        <p:nvGrpSpPr>
          <p:cNvPr name="Group 95" id="95"/>
          <p:cNvGrpSpPr/>
          <p:nvPr/>
        </p:nvGrpSpPr>
        <p:grpSpPr>
          <a:xfrm rot="0">
            <a:off x="2938729" y="5533082"/>
            <a:ext cx="2495798" cy="766248"/>
            <a:chOff x="0" y="0"/>
            <a:chExt cx="3327730" cy="1021664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3327781" cy="1021715"/>
            </a:xfrm>
            <a:custGeom>
              <a:avLst/>
              <a:gdLst/>
              <a:ahLst/>
              <a:cxnLst/>
              <a:rect r="r" b="b" t="t" l="l"/>
              <a:pathLst>
                <a:path h="1021715" w="3327781">
                  <a:moveTo>
                    <a:pt x="0" y="0"/>
                  </a:moveTo>
                  <a:lnTo>
                    <a:pt x="3327781" y="0"/>
                  </a:lnTo>
                  <a:lnTo>
                    <a:pt x="3327781" y="1021715"/>
                  </a:lnTo>
                  <a:lnTo>
                    <a:pt x="0" y="1021715"/>
                  </a:lnTo>
                  <a:close/>
                </a:path>
              </a:pathLst>
            </a:custGeom>
            <a:solidFill>
              <a:srgbClr val="ECF2F8"/>
            </a:solidFill>
            <a:ln w="14299" cap="sq">
              <a:solidFill>
                <a:srgbClr val="DAE2EC"/>
              </a:solidFill>
              <a:prstDash val="solid"/>
              <a:miter/>
            </a:ln>
          </p:spPr>
        </p:sp>
      </p:grpSp>
      <p:sp>
        <p:nvSpPr>
          <p:cNvPr name="TextBox 97" id="97"/>
          <p:cNvSpPr txBox="true"/>
          <p:nvPr/>
        </p:nvSpPr>
        <p:spPr>
          <a:xfrm rot="0">
            <a:off x="3061021" y="5765178"/>
            <a:ext cx="2251272" cy="26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Esha</a:t>
            </a:r>
          </a:p>
        </p:txBody>
      </p:sp>
      <p:grpSp>
        <p:nvGrpSpPr>
          <p:cNvPr name="Group 98" id="98"/>
          <p:cNvGrpSpPr/>
          <p:nvPr/>
        </p:nvGrpSpPr>
        <p:grpSpPr>
          <a:xfrm rot="0">
            <a:off x="5546808" y="5533082"/>
            <a:ext cx="3319424" cy="766248"/>
            <a:chOff x="0" y="0"/>
            <a:chExt cx="4425899" cy="1021664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4425950" cy="1021715"/>
            </a:xfrm>
            <a:custGeom>
              <a:avLst/>
              <a:gdLst/>
              <a:ahLst/>
              <a:cxnLst/>
              <a:rect r="r" b="b" t="t" l="l"/>
              <a:pathLst>
                <a:path h="1021715" w="4425950">
                  <a:moveTo>
                    <a:pt x="0" y="0"/>
                  </a:moveTo>
                  <a:lnTo>
                    <a:pt x="4425950" y="0"/>
                  </a:lnTo>
                  <a:lnTo>
                    <a:pt x="4425950" y="1021715"/>
                  </a:lnTo>
                  <a:lnTo>
                    <a:pt x="0" y="1021715"/>
                  </a:lnTo>
                  <a:close/>
                </a:path>
              </a:pathLst>
            </a:custGeom>
            <a:solidFill>
              <a:srgbClr val="ECF2F8"/>
            </a:solidFill>
            <a:ln w="14299" cap="sq">
              <a:solidFill>
                <a:srgbClr val="DAE2EC"/>
              </a:solidFill>
              <a:prstDash val="solid"/>
              <a:miter/>
            </a:ln>
          </p:spPr>
        </p:sp>
      </p:grpSp>
      <p:sp>
        <p:nvSpPr>
          <p:cNvPr name="TextBox 100" id="100"/>
          <p:cNvSpPr txBox="true"/>
          <p:nvPr/>
        </p:nvSpPr>
        <p:spPr>
          <a:xfrm rot="0">
            <a:off x="5669090" y="5765178"/>
            <a:ext cx="3074870" cy="26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Prawn Curry</a:t>
            </a:r>
          </a:p>
        </p:txBody>
      </p:sp>
      <p:grpSp>
        <p:nvGrpSpPr>
          <p:cNvPr name="Group 101" id="101"/>
          <p:cNvGrpSpPr/>
          <p:nvPr/>
        </p:nvGrpSpPr>
        <p:grpSpPr>
          <a:xfrm rot="0">
            <a:off x="8978494" y="5533082"/>
            <a:ext cx="1123150" cy="766248"/>
            <a:chOff x="0" y="0"/>
            <a:chExt cx="1497533" cy="1021664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497584" cy="1021715"/>
            </a:xfrm>
            <a:custGeom>
              <a:avLst/>
              <a:gdLst/>
              <a:ahLst/>
              <a:cxnLst/>
              <a:rect r="r" b="b" t="t" l="l"/>
              <a:pathLst>
                <a:path h="1021715" w="1497584">
                  <a:moveTo>
                    <a:pt x="0" y="0"/>
                  </a:moveTo>
                  <a:lnTo>
                    <a:pt x="1497584" y="0"/>
                  </a:lnTo>
                  <a:lnTo>
                    <a:pt x="1497584" y="1021715"/>
                  </a:lnTo>
                  <a:lnTo>
                    <a:pt x="0" y="1021715"/>
                  </a:lnTo>
                  <a:close/>
                </a:path>
              </a:pathLst>
            </a:custGeom>
            <a:solidFill>
              <a:srgbClr val="ECF2F8"/>
            </a:solidFill>
            <a:ln w="14299" cap="sq">
              <a:solidFill>
                <a:srgbClr val="DAE2EC"/>
              </a:solidFill>
              <a:prstDash val="solid"/>
              <a:miter/>
            </a:ln>
          </p:spPr>
        </p:sp>
      </p:grpSp>
      <p:sp>
        <p:nvSpPr>
          <p:cNvPr name="TextBox 103" id="103"/>
          <p:cNvSpPr txBox="true"/>
          <p:nvPr/>
        </p:nvSpPr>
        <p:spPr>
          <a:xfrm rot="0">
            <a:off x="9100776" y="5765178"/>
            <a:ext cx="878596" cy="26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1</a:t>
            </a:r>
          </a:p>
        </p:txBody>
      </p:sp>
      <p:grpSp>
        <p:nvGrpSpPr>
          <p:cNvPr name="Group 104" id="104"/>
          <p:cNvGrpSpPr/>
          <p:nvPr/>
        </p:nvGrpSpPr>
        <p:grpSpPr>
          <a:xfrm rot="0">
            <a:off x="10213896" y="5533082"/>
            <a:ext cx="2289962" cy="766248"/>
            <a:chOff x="0" y="0"/>
            <a:chExt cx="3053283" cy="1021664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053334" cy="1021715"/>
            </a:xfrm>
            <a:custGeom>
              <a:avLst/>
              <a:gdLst/>
              <a:ahLst/>
              <a:cxnLst/>
              <a:rect r="r" b="b" t="t" l="l"/>
              <a:pathLst>
                <a:path h="1021715" w="3053334">
                  <a:moveTo>
                    <a:pt x="0" y="0"/>
                  </a:moveTo>
                  <a:lnTo>
                    <a:pt x="3053334" y="0"/>
                  </a:lnTo>
                  <a:lnTo>
                    <a:pt x="3053334" y="1021715"/>
                  </a:lnTo>
                  <a:lnTo>
                    <a:pt x="0" y="1021715"/>
                  </a:lnTo>
                  <a:close/>
                </a:path>
              </a:pathLst>
            </a:custGeom>
            <a:solidFill>
              <a:srgbClr val="ECF2F8"/>
            </a:solidFill>
            <a:ln w="14299" cap="sq">
              <a:solidFill>
                <a:srgbClr val="DAE2EC"/>
              </a:solidFill>
              <a:prstDash val="solid"/>
              <a:miter/>
            </a:ln>
          </p:spPr>
        </p:sp>
      </p:grpSp>
      <p:sp>
        <p:nvSpPr>
          <p:cNvPr name="TextBox 106" id="106"/>
          <p:cNvSpPr txBox="true"/>
          <p:nvPr/>
        </p:nvSpPr>
        <p:spPr>
          <a:xfrm rot="0">
            <a:off x="10336178" y="5765178"/>
            <a:ext cx="2045370" cy="26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0" b="true">
                <a:solidFill>
                  <a:srgbClr val="C24949"/>
                </a:solidFill>
                <a:latin typeface="Aptos Bold"/>
                <a:ea typeface="Aptos Bold"/>
                <a:cs typeface="Aptos Bold"/>
                <a:sym typeface="Aptos Bold"/>
              </a:rPr>
              <a:t>Cancelled</a:t>
            </a:r>
          </a:p>
        </p:txBody>
      </p:sp>
      <p:grpSp>
        <p:nvGrpSpPr>
          <p:cNvPr name="Group 107" id="107"/>
          <p:cNvGrpSpPr/>
          <p:nvPr/>
        </p:nvGrpSpPr>
        <p:grpSpPr>
          <a:xfrm rot="0">
            <a:off x="12616072" y="5533082"/>
            <a:ext cx="1672266" cy="766248"/>
            <a:chOff x="0" y="0"/>
            <a:chExt cx="2229688" cy="1021664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2229739" cy="1021715"/>
            </a:xfrm>
            <a:custGeom>
              <a:avLst/>
              <a:gdLst/>
              <a:ahLst/>
              <a:cxnLst/>
              <a:rect r="r" b="b" t="t" l="l"/>
              <a:pathLst>
                <a:path h="1021715" w="2229739">
                  <a:moveTo>
                    <a:pt x="0" y="0"/>
                  </a:moveTo>
                  <a:lnTo>
                    <a:pt x="2229739" y="0"/>
                  </a:lnTo>
                  <a:lnTo>
                    <a:pt x="2229739" y="1021715"/>
                  </a:lnTo>
                  <a:lnTo>
                    <a:pt x="0" y="1021715"/>
                  </a:lnTo>
                  <a:close/>
                </a:path>
              </a:pathLst>
            </a:custGeom>
            <a:solidFill>
              <a:srgbClr val="ECF2F8"/>
            </a:solidFill>
            <a:ln w="14299" cap="sq">
              <a:solidFill>
                <a:srgbClr val="DAE2EC"/>
              </a:solidFill>
              <a:prstDash val="solid"/>
              <a:miter/>
            </a:ln>
          </p:spPr>
        </p:sp>
      </p:grpSp>
      <p:sp>
        <p:nvSpPr>
          <p:cNvPr name="TextBox 109" id="109"/>
          <p:cNvSpPr txBox="true"/>
          <p:nvPr/>
        </p:nvSpPr>
        <p:spPr>
          <a:xfrm rot="0">
            <a:off x="12738354" y="5765178"/>
            <a:ext cx="1427664" cy="26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₹500</a:t>
            </a:r>
          </a:p>
        </p:txBody>
      </p:sp>
      <p:grpSp>
        <p:nvGrpSpPr>
          <p:cNvPr name="Group 110" id="110"/>
          <p:cNvGrpSpPr/>
          <p:nvPr/>
        </p:nvGrpSpPr>
        <p:grpSpPr>
          <a:xfrm rot="0">
            <a:off x="14469180" y="5533082"/>
            <a:ext cx="2289962" cy="766248"/>
            <a:chOff x="0" y="0"/>
            <a:chExt cx="3053283" cy="1021664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3053334" cy="1021715"/>
            </a:xfrm>
            <a:custGeom>
              <a:avLst/>
              <a:gdLst/>
              <a:ahLst/>
              <a:cxnLst/>
              <a:rect r="r" b="b" t="t" l="l"/>
              <a:pathLst>
                <a:path h="1021715" w="3053334">
                  <a:moveTo>
                    <a:pt x="0" y="0"/>
                  </a:moveTo>
                  <a:lnTo>
                    <a:pt x="3053334" y="0"/>
                  </a:lnTo>
                  <a:lnTo>
                    <a:pt x="3053334" y="1021715"/>
                  </a:lnTo>
                  <a:lnTo>
                    <a:pt x="0" y="1021715"/>
                  </a:lnTo>
                  <a:close/>
                </a:path>
              </a:pathLst>
            </a:custGeom>
            <a:solidFill>
              <a:srgbClr val="ECF2F8"/>
            </a:solidFill>
            <a:ln w="14299" cap="sq">
              <a:solidFill>
                <a:srgbClr val="DAE2EC"/>
              </a:solidFill>
              <a:prstDash val="solid"/>
              <a:miter/>
            </a:ln>
          </p:spPr>
        </p:sp>
      </p:grpSp>
      <p:sp>
        <p:nvSpPr>
          <p:cNvPr name="TextBox 112" id="112"/>
          <p:cNvSpPr txBox="true"/>
          <p:nvPr/>
        </p:nvSpPr>
        <p:spPr>
          <a:xfrm rot="0">
            <a:off x="14591462" y="5765178"/>
            <a:ext cx="2045370" cy="26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0" b="true">
                <a:solidFill>
                  <a:srgbClr val="C24949"/>
                </a:solidFill>
                <a:latin typeface="Aptos Bold"/>
                <a:ea typeface="Aptos Bold"/>
                <a:cs typeface="Aptos Bold"/>
                <a:sym typeface="Aptos Bold"/>
              </a:rPr>
              <a:t>Refunded</a:t>
            </a:r>
          </a:p>
        </p:txBody>
      </p:sp>
      <p:grpSp>
        <p:nvGrpSpPr>
          <p:cNvPr name="Group 113" id="113"/>
          <p:cNvGrpSpPr/>
          <p:nvPr/>
        </p:nvGrpSpPr>
        <p:grpSpPr>
          <a:xfrm rot="0">
            <a:off x="1154259" y="6384141"/>
            <a:ext cx="1672266" cy="766248"/>
            <a:chOff x="0" y="0"/>
            <a:chExt cx="2229688" cy="1021664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2229739" cy="1021715"/>
            </a:xfrm>
            <a:custGeom>
              <a:avLst/>
              <a:gdLst/>
              <a:ahLst/>
              <a:cxnLst/>
              <a:rect r="r" b="b" t="t" l="l"/>
              <a:pathLst>
                <a:path h="1021715" w="2229739">
                  <a:moveTo>
                    <a:pt x="0" y="0"/>
                  </a:moveTo>
                  <a:lnTo>
                    <a:pt x="2229739" y="0"/>
                  </a:lnTo>
                  <a:lnTo>
                    <a:pt x="2229739" y="1021715"/>
                  </a:lnTo>
                  <a:lnTo>
                    <a:pt x="0" y="1021715"/>
                  </a:ln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2EC"/>
              </a:solidFill>
              <a:prstDash val="solid"/>
              <a:miter/>
            </a:ln>
          </p:spPr>
        </p:sp>
      </p:grpSp>
      <p:sp>
        <p:nvSpPr>
          <p:cNvPr name="TextBox 115" id="115"/>
          <p:cNvSpPr txBox="true"/>
          <p:nvPr/>
        </p:nvSpPr>
        <p:spPr>
          <a:xfrm rot="0">
            <a:off x="1276541" y="6616236"/>
            <a:ext cx="1427664" cy="26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0" b="true">
                <a:solidFill>
                  <a:srgbClr val="242F3E"/>
                </a:solidFill>
                <a:latin typeface="Aptos Bold"/>
                <a:ea typeface="Aptos Bold"/>
                <a:cs typeface="Aptos Bold"/>
                <a:sym typeface="Aptos Bold"/>
              </a:rPr>
              <a:t>408</a:t>
            </a:r>
          </a:p>
        </p:txBody>
      </p:sp>
      <p:grpSp>
        <p:nvGrpSpPr>
          <p:cNvPr name="Group 116" id="116"/>
          <p:cNvGrpSpPr/>
          <p:nvPr/>
        </p:nvGrpSpPr>
        <p:grpSpPr>
          <a:xfrm rot="0">
            <a:off x="2938729" y="6384141"/>
            <a:ext cx="2495798" cy="766248"/>
            <a:chOff x="0" y="0"/>
            <a:chExt cx="3327730" cy="1021664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3327781" cy="1021715"/>
            </a:xfrm>
            <a:custGeom>
              <a:avLst/>
              <a:gdLst/>
              <a:ahLst/>
              <a:cxnLst/>
              <a:rect r="r" b="b" t="t" l="l"/>
              <a:pathLst>
                <a:path h="1021715" w="3327781">
                  <a:moveTo>
                    <a:pt x="0" y="0"/>
                  </a:moveTo>
                  <a:lnTo>
                    <a:pt x="3327781" y="0"/>
                  </a:lnTo>
                  <a:lnTo>
                    <a:pt x="3327781" y="1021715"/>
                  </a:lnTo>
                  <a:lnTo>
                    <a:pt x="0" y="1021715"/>
                  </a:ln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2EC"/>
              </a:solidFill>
              <a:prstDash val="solid"/>
              <a:miter/>
            </a:ln>
          </p:spPr>
        </p:sp>
      </p:grpSp>
      <p:sp>
        <p:nvSpPr>
          <p:cNvPr name="TextBox 118" id="118"/>
          <p:cNvSpPr txBox="true"/>
          <p:nvPr/>
        </p:nvSpPr>
        <p:spPr>
          <a:xfrm rot="0">
            <a:off x="3061021" y="6616236"/>
            <a:ext cx="2251272" cy="26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Harini</a:t>
            </a:r>
          </a:p>
        </p:txBody>
      </p:sp>
      <p:grpSp>
        <p:nvGrpSpPr>
          <p:cNvPr name="Group 119" id="119"/>
          <p:cNvGrpSpPr/>
          <p:nvPr/>
        </p:nvGrpSpPr>
        <p:grpSpPr>
          <a:xfrm rot="0">
            <a:off x="5546808" y="6384141"/>
            <a:ext cx="3319424" cy="766248"/>
            <a:chOff x="0" y="0"/>
            <a:chExt cx="4425899" cy="1021664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4425950" cy="1021715"/>
            </a:xfrm>
            <a:custGeom>
              <a:avLst/>
              <a:gdLst/>
              <a:ahLst/>
              <a:cxnLst/>
              <a:rect r="r" b="b" t="t" l="l"/>
              <a:pathLst>
                <a:path h="1021715" w="4425950">
                  <a:moveTo>
                    <a:pt x="0" y="0"/>
                  </a:moveTo>
                  <a:lnTo>
                    <a:pt x="4425950" y="0"/>
                  </a:lnTo>
                  <a:lnTo>
                    <a:pt x="4425950" y="1021715"/>
                  </a:lnTo>
                  <a:lnTo>
                    <a:pt x="0" y="1021715"/>
                  </a:ln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2EC"/>
              </a:solidFill>
              <a:prstDash val="solid"/>
              <a:miter/>
            </a:ln>
          </p:spPr>
        </p:sp>
      </p:grpSp>
      <p:sp>
        <p:nvSpPr>
          <p:cNvPr name="TextBox 121" id="121"/>
          <p:cNvSpPr txBox="true"/>
          <p:nvPr/>
        </p:nvSpPr>
        <p:spPr>
          <a:xfrm rot="0">
            <a:off x="5669090" y="6616236"/>
            <a:ext cx="3074870" cy="26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Grilled Fish</a:t>
            </a:r>
          </a:p>
        </p:txBody>
      </p:sp>
      <p:grpSp>
        <p:nvGrpSpPr>
          <p:cNvPr name="Group 122" id="122"/>
          <p:cNvGrpSpPr/>
          <p:nvPr/>
        </p:nvGrpSpPr>
        <p:grpSpPr>
          <a:xfrm rot="0">
            <a:off x="8978494" y="6384141"/>
            <a:ext cx="1123150" cy="766248"/>
            <a:chOff x="0" y="0"/>
            <a:chExt cx="1497533" cy="1021664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1497584" cy="1021715"/>
            </a:xfrm>
            <a:custGeom>
              <a:avLst/>
              <a:gdLst/>
              <a:ahLst/>
              <a:cxnLst/>
              <a:rect r="r" b="b" t="t" l="l"/>
              <a:pathLst>
                <a:path h="1021715" w="1497584">
                  <a:moveTo>
                    <a:pt x="0" y="0"/>
                  </a:moveTo>
                  <a:lnTo>
                    <a:pt x="1497584" y="0"/>
                  </a:lnTo>
                  <a:lnTo>
                    <a:pt x="1497584" y="1021715"/>
                  </a:lnTo>
                  <a:lnTo>
                    <a:pt x="0" y="1021715"/>
                  </a:ln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2EC"/>
              </a:solidFill>
              <a:prstDash val="solid"/>
              <a:miter/>
            </a:ln>
          </p:spPr>
        </p:sp>
      </p:grpSp>
      <p:sp>
        <p:nvSpPr>
          <p:cNvPr name="TextBox 124" id="124"/>
          <p:cNvSpPr txBox="true"/>
          <p:nvPr/>
        </p:nvSpPr>
        <p:spPr>
          <a:xfrm rot="0">
            <a:off x="9100776" y="6616236"/>
            <a:ext cx="878596" cy="26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1</a:t>
            </a:r>
          </a:p>
        </p:txBody>
      </p:sp>
      <p:grpSp>
        <p:nvGrpSpPr>
          <p:cNvPr name="Group 125" id="125"/>
          <p:cNvGrpSpPr/>
          <p:nvPr/>
        </p:nvGrpSpPr>
        <p:grpSpPr>
          <a:xfrm rot="0">
            <a:off x="10213896" y="6384141"/>
            <a:ext cx="2289962" cy="766248"/>
            <a:chOff x="0" y="0"/>
            <a:chExt cx="3053283" cy="1021664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3053334" cy="1021715"/>
            </a:xfrm>
            <a:custGeom>
              <a:avLst/>
              <a:gdLst/>
              <a:ahLst/>
              <a:cxnLst/>
              <a:rect r="r" b="b" t="t" l="l"/>
              <a:pathLst>
                <a:path h="1021715" w="3053334">
                  <a:moveTo>
                    <a:pt x="0" y="0"/>
                  </a:moveTo>
                  <a:lnTo>
                    <a:pt x="3053334" y="0"/>
                  </a:lnTo>
                  <a:lnTo>
                    <a:pt x="3053334" y="1021715"/>
                  </a:lnTo>
                  <a:lnTo>
                    <a:pt x="0" y="1021715"/>
                  </a:ln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2EC"/>
              </a:solidFill>
              <a:prstDash val="solid"/>
              <a:miter/>
            </a:ln>
          </p:spPr>
        </p:sp>
      </p:grpSp>
      <p:sp>
        <p:nvSpPr>
          <p:cNvPr name="TextBox 127" id="127"/>
          <p:cNvSpPr txBox="true"/>
          <p:nvPr/>
        </p:nvSpPr>
        <p:spPr>
          <a:xfrm rot="0">
            <a:off x="10336178" y="6616236"/>
            <a:ext cx="2045370" cy="26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0" b="true">
                <a:solidFill>
                  <a:srgbClr val="F2B24B"/>
                </a:solidFill>
                <a:latin typeface="Aptos Bold"/>
                <a:ea typeface="Aptos Bold"/>
                <a:cs typeface="Aptos Bold"/>
                <a:sym typeface="Aptos Bold"/>
              </a:rPr>
              <a:t>Preparing</a:t>
            </a:r>
          </a:p>
        </p:txBody>
      </p:sp>
      <p:grpSp>
        <p:nvGrpSpPr>
          <p:cNvPr name="Group 128" id="128"/>
          <p:cNvGrpSpPr/>
          <p:nvPr/>
        </p:nvGrpSpPr>
        <p:grpSpPr>
          <a:xfrm rot="0">
            <a:off x="12616072" y="6384141"/>
            <a:ext cx="1672266" cy="766248"/>
            <a:chOff x="0" y="0"/>
            <a:chExt cx="2229688" cy="1021664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2229739" cy="1021715"/>
            </a:xfrm>
            <a:custGeom>
              <a:avLst/>
              <a:gdLst/>
              <a:ahLst/>
              <a:cxnLst/>
              <a:rect r="r" b="b" t="t" l="l"/>
              <a:pathLst>
                <a:path h="1021715" w="2229739">
                  <a:moveTo>
                    <a:pt x="0" y="0"/>
                  </a:moveTo>
                  <a:lnTo>
                    <a:pt x="2229739" y="0"/>
                  </a:lnTo>
                  <a:lnTo>
                    <a:pt x="2229739" y="1021715"/>
                  </a:lnTo>
                  <a:lnTo>
                    <a:pt x="0" y="1021715"/>
                  </a:ln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2EC"/>
              </a:solidFill>
              <a:prstDash val="solid"/>
              <a:miter/>
            </a:ln>
          </p:spPr>
        </p:sp>
      </p:grpSp>
      <p:sp>
        <p:nvSpPr>
          <p:cNvPr name="TextBox 130" id="130"/>
          <p:cNvSpPr txBox="true"/>
          <p:nvPr/>
        </p:nvSpPr>
        <p:spPr>
          <a:xfrm rot="0">
            <a:off x="12738354" y="6616236"/>
            <a:ext cx="1427664" cy="26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₹450</a:t>
            </a:r>
          </a:p>
        </p:txBody>
      </p:sp>
      <p:grpSp>
        <p:nvGrpSpPr>
          <p:cNvPr name="Group 131" id="131"/>
          <p:cNvGrpSpPr/>
          <p:nvPr/>
        </p:nvGrpSpPr>
        <p:grpSpPr>
          <a:xfrm rot="0">
            <a:off x="14469180" y="6384141"/>
            <a:ext cx="2289962" cy="766248"/>
            <a:chOff x="0" y="0"/>
            <a:chExt cx="3053283" cy="1021664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3053334" cy="1021715"/>
            </a:xfrm>
            <a:custGeom>
              <a:avLst/>
              <a:gdLst/>
              <a:ahLst/>
              <a:cxnLst/>
              <a:rect r="r" b="b" t="t" l="l"/>
              <a:pathLst>
                <a:path h="1021715" w="3053334">
                  <a:moveTo>
                    <a:pt x="0" y="0"/>
                  </a:moveTo>
                  <a:lnTo>
                    <a:pt x="3053334" y="0"/>
                  </a:lnTo>
                  <a:lnTo>
                    <a:pt x="3053334" y="1021715"/>
                  </a:lnTo>
                  <a:lnTo>
                    <a:pt x="0" y="1021715"/>
                  </a:ln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2EC"/>
              </a:solidFill>
              <a:prstDash val="solid"/>
              <a:miter/>
            </a:ln>
          </p:spPr>
        </p:sp>
      </p:grpSp>
      <p:sp>
        <p:nvSpPr>
          <p:cNvPr name="TextBox 133" id="133"/>
          <p:cNvSpPr txBox="true"/>
          <p:nvPr/>
        </p:nvSpPr>
        <p:spPr>
          <a:xfrm rot="0">
            <a:off x="14591462" y="6616236"/>
            <a:ext cx="2045370" cy="26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0" b="true">
                <a:solidFill>
                  <a:srgbClr val="F2B24B"/>
                </a:solidFill>
                <a:latin typeface="Aptos Bold"/>
                <a:ea typeface="Aptos Bold"/>
                <a:cs typeface="Aptos Bold"/>
                <a:sym typeface="Aptos Bold"/>
              </a:rPr>
              <a:t>Pending</a:t>
            </a:r>
          </a:p>
        </p:txBody>
      </p:sp>
      <p:sp>
        <p:nvSpPr>
          <p:cNvPr name="TextBox 134" id="134"/>
          <p:cNvSpPr txBox="true"/>
          <p:nvPr/>
        </p:nvSpPr>
        <p:spPr>
          <a:xfrm rot="0">
            <a:off x="1290266" y="7947727"/>
            <a:ext cx="15676007" cy="71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0">
                <a:solidFill>
                  <a:srgbClr val="5E6C7E"/>
                </a:solidFill>
                <a:latin typeface="Aptos"/>
                <a:ea typeface="Aptos"/>
                <a:cs typeface="Aptos"/>
                <a:sym typeface="Aptos"/>
              </a:rPr>
              <a:t>The dataset keeps order status and payment status separate, allowing reports to distinguish fulfilment from payment processing.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05923" y="420167"/>
            <a:ext cx="13205193" cy="252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1F9E97"/>
                </a:solidFill>
                <a:latin typeface="Aptos Bold"/>
                <a:ea typeface="Aptos Bold"/>
                <a:cs typeface="Aptos Bold"/>
                <a:sym typeface="Aptos Bold"/>
              </a:rPr>
              <a:t>04 • SQL CAPABILITIES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05923" y="924973"/>
            <a:ext cx="16362340" cy="626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2"/>
              </a:lnSpc>
            </a:pPr>
            <a:r>
              <a:rPr lang="en-US" sz="4053" b="true">
                <a:solidFill>
                  <a:srgbClr val="14274A"/>
                </a:solidFill>
                <a:latin typeface="Aptos Bold"/>
                <a:ea typeface="Aptos Bold"/>
                <a:cs typeface="Aptos Bold"/>
                <a:sym typeface="Aptos Bold"/>
              </a:rPr>
              <a:t>SQL Tasks: Data Retrieval &amp; Modification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65994" y="1744513"/>
            <a:ext cx="1054570" cy="100546"/>
            <a:chOff x="0" y="0"/>
            <a:chExt cx="1406093" cy="1340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06144" cy="134112"/>
            </a:xfrm>
            <a:custGeom>
              <a:avLst/>
              <a:gdLst/>
              <a:ahLst/>
              <a:cxnLst/>
              <a:rect r="r" b="b" t="t" l="l"/>
              <a:pathLst>
                <a:path h="134112" w="1406144">
                  <a:moveTo>
                    <a:pt x="0" y="0"/>
                  </a:moveTo>
                  <a:lnTo>
                    <a:pt x="1406144" y="0"/>
                  </a:lnTo>
                  <a:lnTo>
                    <a:pt x="1406144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1F9E97"/>
            </a:solidFill>
            <a:ln w="14299" cap="sq">
              <a:solidFill>
                <a:srgbClr val="1F9E97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05923" y="9828295"/>
            <a:ext cx="10871654" cy="13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>
                <a:solidFill>
                  <a:srgbClr val="5E6C7E"/>
                </a:solidFill>
                <a:latin typeface="Aptos"/>
                <a:ea typeface="Aptos"/>
                <a:cs typeface="Aptos"/>
                <a:sym typeface="Aptos"/>
              </a:rPr>
              <a:t>ONLINE FOOD ORDERING SYSTEM  •  MYSQL DATABASE 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732834" y="9754333"/>
            <a:ext cx="645243" cy="238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 b="true">
                <a:solidFill>
                  <a:srgbClr val="5E6C7E"/>
                </a:solidFill>
                <a:latin typeface="Aptos Bold"/>
                <a:ea typeface="Aptos Bold"/>
                <a:cs typeface="Aptos Bold"/>
                <a:sym typeface="Aptos Bold"/>
              </a:rPr>
              <a:t>08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85621" y="2321033"/>
            <a:ext cx="7917904" cy="2152707"/>
          </a:xfrm>
          <a:custGeom>
            <a:avLst/>
            <a:gdLst/>
            <a:ahLst/>
            <a:cxnLst/>
            <a:rect r="r" b="b" t="t" l="l"/>
            <a:pathLst>
              <a:path h="2152707" w="7917904">
                <a:moveTo>
                  <a:pt x="0" y="0"/>
                </a:moveTo>
                <a:lnTo>
                  <a:pt x="7917904" y="0"/>
                </a:lnTo>
                <a:lnTo>
                  <a:pt x="7917904" y="2152707"/>
                </a:lnTo>
                <a:lnTo>
                  <a:pt x="0" y="2152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85621" y="2321033"/>
            <a:ext cx="134836" cy="2152707"/>
            <a:chOff x="0" y="0"/>
            <a:chExt cx="179781" cy="287027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9832" cy="2870327"/>
            </a:xfrm>
            <a:custGeom>
              <a:avLst/>
              <a:gdLst/>
              <a:ahLst/>
              <a:cxnLst/>
              <a:rect r="r" b="b" t="t" l="l"/>
              <a:pathLst>
                <a:path h="2870327" w="179832">
                  <a:moveTo>
                    <a:pt x="0" y="0"/>
                  </a:moveTo>
                  <a:lnTo>
                    <a:pt x="179832" y="0"/>
                  </a:lnTo>
                  <a:lnTo>
                    <a:pt x="179832" y="2870327"/>
                  </a:lnTo>
                  <a:lnTo>
                    <a:pt x="0" y="2870327"/>
                  </a:lnTo>
                  <a:close/>
                </a:path>
              </a:pathLst>
            </a:custGeom>
            <a:solidFill>
              <a:srgbClr val="2366AD"/>
            </a:solidFill>
            <a:ln w="14299" cap="sq">
              <a:solidFill>
                <a:srgbClr val="2366AD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454991" y="2635491"/>
            <a:ext cx="7206615" cy="384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1"/>
              </a:lnSpc>
            </a:pPr>
            <a:r>
              <a:rPr lang="en-US" sz="2400" b="true">
                <a:solidFill>
                  <a:srgbClr val="14274A"/>
                </a:solidFill>
                <a:latin typeface="Aptos Bold"/>
                <a:ea typeface="Aptos Bold"/>
                <a:cs typeface="Aptos Bold"/>
                <a:sym typeface="Aptos Bold"/>
              </a:rPr>
              <a:t>SELECT &amp; filtering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54991" y="3261598"/>
            <a:ext cx="7206615" cy="966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List restaurants and cuisines; find last week’s orders; identify orders by status.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9321660" y="2321033"/>
            <a:ext cx="7917904" cy="2152707"/>
          </a:xfrm>
          <a:custGeom>
            <a:avLst/>
            <a:gdLst/>
            <a:ahLst/>
            <a:cxnLst/>
            <a:rect r="r" b="b" t="t" l="l"/>
            <a:pathLst>
              <a:path h="2152707" w="7917904">
                <a:moveTo>
                  <a:pt x="0" y="0"/>
                </a:moveTo>
                <a:lnTo>
                  <a:pt x="7917904" y="0"/>
                </a:lnTo>
                <a:lnTo>
                  <a:pt x="7917904" y="2152707"/>
                </a:lnTo>
                <a:lnTo>
                  <a:pt x="0" y="2152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9321660" y="2321033"/>
            <a:ext cx="134836" cy="2152707"/>
            <a:chOff x="0" y="0"/>
            <a:chExt cx="179781" cy="287027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9832" cy="2870327"/>
            </a:xfrm>
            <a:custGeom>
              <a:avLst/>
              <a:gdLst/>
              <a:ahLst/>
              <a:cxnLst/>
              <a:rect r="r" b="b" t="t" l="l"/>
              <a:pathLst>
                <a:path h="2870327" w="179832">
                  <a:moveTo>
                    <a:pt x="0" y="0"/>
                  </a:moveTo>
                  <a:lnTo>
                    <a:pt x="179832" y="0"/>
                  </a:lnTo>
                  <a:lnTo>
                    <a:pt x="179832" y="2870327"/>
                  </a:lnTo>
                  <a:lnTo>
                    <a:pt x="0" y="2870327"/>
                  </a:lnTo>
                  <a:close/>
                </a:path>
              </a:pathLst>
            </a:custGeom>
            <a:solidFill>
              <a:srgbClr val="1F9E97"/>
            </a:solidFill>
            <a:ln w="14299" cap="sq">
              <a:solidFill>
                <a:srgbClr val="1F9E97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9691021" y="2635491"/>
            <a:ext cx="7206615" cy="384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1"/>
              </a:lnSpc>
            </a:pPr>
            <a:r>
              <a:rPr lang="en-US" sz="2400" b="true">
                <a:solidFill>
                  <a:srgbClr val="14274A"/>
                </a:solidFill>
                <a:latin typeface="Aptos Bold"/>
                <a:ea typeface="Aptos Bold"/>
                <a:cs typeface="Aptos Bold"/>
                <a:sym typeface="Aptos Bold"/>
              </a:rPr>
              <a:t>UPDATE &amp; DELETE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691021" y="3280648"/>
            <a:ext cx="7206615" cy="947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Change Preparing orders to Delivered; increase a restaurant’s item prices by 10%; delete a cancelled order.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085621" y="4860474"/>
            <a:ext cx="7917904" cy="2152707"/>
          </a:xfrm>
          <a:custGeom>
            <a:avLst/>
            <a:gdLst/>
            <a:ahLst/>
            <a:cxnLst/>
            <a:rect r="r" b="b" t="t" l="l"/>
            <a:pathLst>
              <a:path h="2152707" w="7917904">
                <a:moveTo>
                  <a:pt x="0" y="0"/>
                </a:moveTo>
                <a:lnTo>
                  <a:pt x="7917904" y="0"/>
                </a:lnTo>
                <a:lnTo>
                  <a:pt x="7917904" y="2152707"/>
                </a:lnTo>
                <a:lnTo>
                  <a:pt x="0" y="2152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085621" y="4860474"/>
            <a:ext cx="134836" cy="2152707"/>
            <a:chOff x="0" y="0"/>
            <a:chExt cx="179781" cy="287027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79832" cy="2870327"/>
            </a:xfrm>
            <a:custGeom>
              <a:avLst/>
              <a:gdLst/>
              <a:ahLst/>
              <a:cxnLst/>
              <a:rect r="r" b="b" t="t" l="l"/>
              <a:pathLst>
                <a:path h="2870327" w="179832">
                  <a:moveTo>
                    <a:pt x="0" y="0"/>
                  </a:moveTo>
                  <a:lnTo>
                    <a:pt x="179832" y="0"/>
                  </a:lnTo>
                  <a:lnTo>
                    <a:pt x="179832" y="2870327"/>
                  </a:lnTo>
                  <a:lnTo>
                    <a:pt x="0" y="2870327"/>
                  </a:lnTo>
                  <a:close/>
                </a:path>
              </a:pathLst>
            </a:custGeom>
            <a:solidFill>
              <a:srgbClr val="F2B24B"/>
            </a:solidFill>
            <a:ln w="14299" cap="sq">
              <a:solidFill>
                <a:srgbClr val="F2B24B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454991" y="5174932"/>
            <a:ext cx="7206615" cy="384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1"/>
              </a:lnSpc>
            </a:pPr>
            <a:r>
              <a:rPr lang="en-US" sz="2400" b="true">
                <a:solidFill>
                  <a:srgbClr val="14274A"/>
                </a:solidFill>
                <a:latin typeface="Aptos Bold"/>
                <a:ea typeface="Aptos Bold"/>
                <a:cs typeface="Aptos Bold"/>
                <a:sym typeface="Aptos Bold"/>
              </a:rPr>
              <a:t>String functions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54991" y="5801039"/>
            <a:ext cx="7206615" cy="966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Use UPPER, LOWER, first-five-character extraction, CONCAT and REPLACE.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9321660" y="4860474"/>
            <a:ext cx="7917904" cy="2152707"/>
          </a:xfrm>
          <a:custGeom>
            <a:avLst/>
            <a:gdLst/>
            <a:ahLst/>
            <a:cxnLst/>
            <a:rect r="r" b="b" t="t" l="l"/>
            <a:pathLst>
              <a:path h="2152707" w="7917904">
                <a:moveTo>
                  <a:pt x="0" y="0"/>
                </a:moveTo>
                <a:lnTo>
                  <a:pt x="7917904" y="0"/>
                </a:lnTo>
                <a:lnTo>
                  <a:pt x="7917904" y="2152707"/>
                </a:lnTo>
                <a:lnTo>
                  <a:pt x="0" y="2152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9321660" y="4860474"/>
            <a:ext cx="134836" cy="2152707"/>
            <a:chOff x="0" y="0"/>
            <a:chExt cx="179781" cy="287027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79832" cy="2870327"/>
            </a:xfrm>
            <a:custGeom>
              <a:avLst/>
              <a:gdLst/>
              <a:ahLst/>
              <a:cxnLst/>
              <a:rect r="r" b="b" t="t" l="l"/>
              <a:pathLst>
                <a:path h="2870327" w="179832">
                  <a:moveTo>
                    <a:pt x="0" y="0"/>
                  </a:moveTo>
                  <a:lnTo>
                    <a:pt x="179832" y="0"/>
                  </a:lnTo>
                  <a:lnTo>
                    <a:pt x="179832" y="2870327"/>
                  </a:lnTo>
                  <a:lnTo>
                    <a:pt x="0" y="2870327"/>
                  </a:lnTo>
                  <a:close/>
                </a:path>
              </a:pathLst>
            </a:custGeom>
            <a:solidFill>
              <a:srgbClr val="2366AD"/>
            </a:solidFill>
            <a:ln w="14299" cap="sq">
              <a:solidFill>
                <a:srgbClr val="2366AD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9691021" y="5174932"/>
            <a:ext cx="7206615" cy="384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1"/>
              </a:lnSpc>
            </a:pPr>
            <a:r>
              <a:rPr lang="en-US" sz="2400" b="true">
                <a:solidFill>
                  <a:srgbClr val="14274A"/>
                </a:solidFill>
                <a:latin typeface="Aptos Bold"/>
                <a:ea typeface="Aptos Bold"/>
                <a:cs typeface="Aptos Bold"/>
                <a:sym typeface="Aptos Bold"/>
              </a:rPr>
              <a:t>Date functions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691021" y="5820089"/>
            <a:ext cx="7206615" cy="947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Display weekday names, calculate days since an order, format payment dates, and extract month/year.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90266" y="7810462"/>
            <a:ext cx="15813272" cy="645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0">
                <a:solidFill>
                  <a:srgbClr val="5E6C7E"/>
                </a:solidFill>
                <a:latin typeface="Aptos"/>
                <a:ea typeface="Aptos"/>
                <a:cs typeface="Aptos"/>
                <a:sym typeface="Aptos"/>
              </a:rPr>
              <a:t>These tasks demonstrate basic querying, data maintenance, string manipulation and date handling.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05923" y="420167"/>
            <a:ext cx="13205193" cy="252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1F9E97"/>
                </a:solidFill>
                <a:latin typeface="Aptos Bold"/>
                <a:ea typeface="Aptos Bold"/>
                <a:cs typeface="Aptos Bold"/>
                <a:sym typeface="Aptos Bold"/>
              </a:rPr>
              <a:t>04 • SQL CAPABILITIES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05923" y="924973"/>
            <a:ext cx="16362340" cy="626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2"/>
              </a:lnSpc>
            </a:pPr>
            <a:r>
              <a:rPr lang="en-US" sz="4053" b="true">
                <a:solidFill>
                  <a:srgbClr val="14274A"/>
                </a:solidFill>
                <a:latin typeface="Aptos Bold"/>
                <a:ea typeface="Aptos Bold"/>
                <a:cs typeface="Aptos Bold"/>
                <a:sym typeface="Aptos Bold"/>
              </a:rPr>
              <a:t>SQL Tasks: Aggregation &amp; Joins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65994" y="1744513"/>
            <a:ext cx="1054570" cy="100546"/>
            <a:chOff x="0" y="0"/>
            <a:chExt cx="1406093" cy="1340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06144" cy="134112"/>
            </a:xfrm>
            <a:custGeom>
              <a:avLst/>
              <a:gdLst/>
              <a:ahLst/>
              <a:cxnLst/>
              <a:rect r="r" b="b" t="t" l="l"/>
              <a:pathLst>
                <a:path h="134112" w="1406144">
                  <a:moveTo>
                    <a:pt x="0" y="0"/>
                  </a:moveTo>
                  <a:lnTo>
                    <a:pt x="1406144" y="0"/>
                  </a:lnTo>
                  <a:lnTo>
                    <a:pt x="1406144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1F9E97"/>
            </a:solidFill>
            <a:ln w="14299" cap="sq">
              <a:solidFill>
                <a:srgbClr val="1F9E97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05923" y="9828295"/>
            <a:ext cx="10871654" cy="13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>
                <a:solidFill>
                  <a:srgbClr val="5E6C7E"/>
                </a:solidFill>
                <a:latin typeface="Aptos"/>
                <a:ea typeface="Aptos"/>
                <a:cs typeface="Aptos"/>
                <a:sym typeface="Aptos"/>
              </a:rPr>
              <a:t>ONLINE FOOD ORDERING SYSTEM  •  MYSQL DATABASE 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732834" y="9754333"/>
            <a:ext cx="645243" cy="238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 b="true">
                <a:solidFill>
                  <a:srgbClr val="5E6C7E"/>
                </a:solidFill>
                <a:latin typeface="Aptos Bold"/>
                <a:ea typeface="Aptos Bold"/>
                <a:cs typeface="Aptos Bold"/>
                <a:sym typeface="Aptos Bold"/>
              </a:rPr>
              <a:t>09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85621" y="2348484"/>
            <a:ext cx="5172513" cy="2770403"/>
          </a:xfrm>
          <a:custGeom>
            <a:avLst/>
            <a:gdLst/>
            <a:ahLst/>
            <a:cxnLst/>
            <a:rect r="r" b="b" t="t" l="l"/>
            <a:pathLst>
              <a:path h="2770403" w="5172513">
                <a:moveTo>
                  <a:pt x="0" y="0"/>
                </a:moveTo>
                <a:lnTo>
                  <a:pt x="5172514" y="0"/>
                </a:lnTo>
                <a:lnTo>
                  <a:pt x="5172514" y="2770403"/>
                </a:lnTo>
                <a:lnTo>
                  <a:pt x="0" y="27704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85621" y="2348484"/>
            <a:ext cx="134836" cy="2770403"/>
            <a:chOff x="0" y="0"/>
            <a:chExt cx="179781" cy="369387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9832" cy="3693922"/>
            </a:xfrm>
            <a:custGeom>
              <a:avLst/>
              <a:gdLst/>
              <a:ahLst/>
              <a:cxnLst/>
              <a:rect r="r" b="b" t="t" l="l"/>
              <a:pathLst>
                <a:path h="3693922" w="179832">
                  <a:moveTo>
                    <a:pt x="0" y="0"/>
                  </a:moveTo>
                  <a:lnTo>
                    <a:pt x="179832" y="0"/>
                  </a:lnTo>
                  <a:lnTo>
                    <a:pt x="179832" y="3693922"/>
                  </a:lnTo>
                  <a:lnTo>
                    <a:pt x="0" y="3693922"/>
                  </a:lnTo>
                  <a:close/>
                </a:path>
              </a:pathLst>
            </a:custGeom>
            <a:solidFill>
              <a:srgbClr val="2366AD"/>
            </a:solidFill>
            <a:ln w="14299" cap="sq">
              <a:solidFill>
                <a:srgbClr val="2366AD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454991" y="2662942"/>
            <a:ext cx="4461272" cy="384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1"/>
              </a:lnSpc>
            </a:pPr>
            <a:r>
              <a:rPr lang="en-US" sz="2400" b="true">
                <a:solidFill>
                  <a:srgbClr val="14274A"/>
                </a:solidFill>
                <a:latin typeface="Aptos Bold"/>
                <a:ea typeface="Aptos Bold"/>
                <a:cs typeface="Aptos Bold"/>
                <a:sym typeface="Aptos Bold"/>
              </a:rPr>
              <a:t>Aggregate functions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54991" y="3289049"/>
            <a:ext cx="4461272" cy="1583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• COUNT menu items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• AVG item price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• MAX payment amount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• SUM revenue and quantity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576317" y="2348484"/>
            <a:ext cx="5172513" cy="2770403"/>
          </a:xfrm>
          <a:custGeom>
            <a:avLst/>
            <a:gdLst/>
            <a:ahLst/>
            <a:cxnLst/>
            <a:rect r="r" b="b" t="t" l="l"/>
            <a:pathLst>
              <a:path h="2770403" w="5172513">
                <a:moveTo>
                  <a:pt x="0" y="0"/>
                </a:moveTo>
                <a:lnTo>
                  <a:pt x="5172513" y="0"/>
                </a:lnTo>
                <a:lnTo>
                  <a:pt x="5172513" y="2770403"/>
                </a:lnTo>
                <a:lnTo>
                  <a:pt x="0" y="27704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6576317" y="2348484"/>
            <a:ext cx="134836" cy="2770403"/>
            <a:chOff x="0" y="0"/>
            <a:chExt cx="179781" cy="369387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9832" cy="3693922"/>
            </a:xfrm>
            <a:custGeom>
              <a:avLst/>
              <a:gdLst/>
              <a:ahLst/>
              <a:cxnLst/>
              <a:rect r="r" b="b" t="t" l="l"/>
              <a:pathLst>
                <a:path h="3693922" w="179832">
                  <a:moveTo>
                    <a:pt x="0" y="0"/>
                  </a:moveTo>
                  <a:lnTo>
                    <a:pt x="179832" y="0"/>
                  </a:lnTo>
                  <a:lnTo>
                    <a:pt x="179832" y="3693922"/>
                  </a:lnTo>
                  <a:lnTo>
                    <a:pt x="0" y="3693922"/>
                  </a:lnTo>
                  <a:close/>
                </a:path>
              </a:pathLst>
            </a:custGeom>
            <a:solidFill>
              <a:srgbClr val="1F9E97"/>
            </a:solidFill>
            <a:ln w="14299" cap="sq">
              <a:solidFill>
                <a:srgbClr val="1F9E97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6945678" y="2662942"/>
            <a:ext cx="4461272" cy="384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1"/>
              </a:lnSpc>
            </a:pPr>
            <a:r>
              <a:rPr lang="en-US" sz="2400" b="true">
                <a:solidFill>
                  <a:srgbClr val="14274A"/>
                </a:solidFill>
                <a:latin typeface="Aptos Bold"/>
                <a:ea typeface="Aptos Bold"/>
                <a:cs typeface="Aptos Bold"/>
                <a:sym typeface="Aptos Bold"/>
              </a:rPr>
              <a:t>INNER JOIN use cases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945678" y="3308099"/>
            <a:ext cx="4461272" cy="1564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• Customer + food item</a:t>
            </a:r>
          </a:p>
          <a:p>
            <a:pPr algn="l">
              <a:lnSpc>
                <a:spcPts val="2341"/>
              </a:lnSpc>
            </a:pPr>
            <a:r>
              <a:rPr lang="en-US" sz="195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• Restaurant + menu</a:t>
            </a:r>
          </a:p>
          <a:p>
            <a:pPr algn="l">
              <a:lnSpc>
                <a:spcPts val="2341"/>
              </a:lnSpc>
            </a:pPr>
            <a:r>
              <a:rPr lang="en-US" sz="195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• Customer + item + status</a:t>
            </a:r>
          </a:p>
          <a:p>
            <a:pPr algn="l">
              <a:lnSpc>
                <a:spcPts val="2341"/>
              </a:lnSpc>
            </a:pPr>
            <a:r>
              <a:rPr lang="en-US" sz="195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• Order + payment details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2067003" y="2348484"/>
            <a:ext cx="5172513" cy="2770403"/>
          </a:xfrm>
          <a:custGeom>
            <a:avLst/>
            <a:gdLst/>
            <a:ahLst/>
            <a:cxnLst/>
            <a:rect r="r" b="b" t="t" l="l"/>
            <a:pathLst>
              <a:path h="2770403" w="5172513">
                <a:moveTo>
                  <a:pt x="0" y="0"/>
                </a:moveTo>
                <a:lnTo>
                  <a:pt x="5172514" y="0"/>
                </a:lnTo>
                <a:lnTo>
                  <a:pt x="5172514" y="2770403"/>
                </a:lnTo>
                <a:lnTo>
                  <a:pt x="0" y="27704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2067003" y="2348484"/>
            <a:ext cx="134836" cy="2770403"/>
            <a:chOff x="0" y="0"/>
            <a:chExt cx="179781" cy="369387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79832" cy="3693922"/>
            </a:xfrm>
            <a:custGeom>
              <a:avLst/>
              <a:gdLst/>
              <a:ahLst/>
              <a:cxnLst/>
              <a:rect r="r" b="b" t="t" l="l"/>
              <a:pathLst>
                <a:path h="3693922" w="179832">
                  <a:moveTo>
                    <a:pt x="0" y="0"/>
                  </a:moveTo>
                  <a:lnTo>
                    <a:pt x="179832" y="0"/>
                  </a:lnTo>
                  <a:lnTo>
                    <a:pt x="179832" y="3693922"/>
                  </a:lnTo>
                  <a:lnTo>
                    <a:pt x="0" y="3693922"/>
                  </a:lnTo>
                  <a:close/>
                </a:path>
              </a:pathLst>
            </a:custGeom>
            <a:solidFill>
              <a:srgbClr val="F2B24B"/>
            </a:solidFill>
            <a:ln w="14299" cap="sq">
              <a:solidFill>
                <a:srgbClr val="F2B24B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2436373" y="2662942"/>
            <a:ext cx="4461272" cy="384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1"/>
              </a:lnSpc>
            </a:pPr>
            <a:r>
              <a:rPr lang="en-US" sz="2400" b="true">
                <a:solidFill>
                  <a:srgbClr val="14274A"/>
                </a:solidFill>
                <a:latin typeface="Aptos Bold"/>
                <a:ea typeface="Aptos Bold"/>
                <a:cs typeface="Aptos Bold"/>
                <a:sym typeface="Aptos Bold"/>
              </a:rPr>
              <a:t>Subqueries &amp; outer joins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436373" y="3308099"/>
            <a:ext cx="4461272" cy="1564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• Payments above average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• Most expensive food item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• Customers who ordered it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• Restaurants with no orders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• Include all restaurant menu items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222896" y="5958611"/>
            <a:ext cx="15810795" cy="1397660"/>
          </a:xfrm>
          <a:custGeom>
            <a:avLst/>
            <a:gdLst/>
            <a:ahLst/>
            <a:cxnLst/>
            <a:rect r="r" b="b" t="t" l="l"/>
            <a:pathLst>
              <a:path h="1397660" w="15810795">
                <a:moveTo>
                  <a:pt x="0" y="0"/>
                </a:moveTo>
                <a:lnTo>
                  <a:pt x="15810795" y="0"/>
                </a:lnTo>
                <a:lnTo>
                  <a:pt x="15810795" y="1397661"/>
                </a:lnTo>
                <a:lnTo>
                  <a:pt x="0" y="13976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702070" y="6341707"/>
            <a:ext cx="14852399" cy="549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1"/>
              </a:lnSpc>
            </a:pPr>
            <a:r>
              <a:rPr lang="en-US" sz="2550" b="true">
                <a:solidFill>
                  <a:srgbClr val="14274A"/>
                </a:solidFill>
                <a:latin typeface="Aptos Bold"/>
                <a:ea typeface="Aptos Bold"/>
                <a:cs typeface="Aptos Bold"/>
                <a:sym typeface="Aptos Bold"/>
              </a:rPr>
              <a:t>Reporting goal: combine related records and summarize activity by restaurant, customer and menu item.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-1558958" y="7546772"/>
            <a:ext cx="21292103" cy="228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1"/>
              </a:lnSpc>
            </a:pPr>
            <a:r>
              <a:rPr lang="en-US" sz="2550" b="true">
                <a:solidFill>
                  <a:srgbClr val="14274A"/>
                </a:solidFill>
                <a:latin typeface="Aptos Bold"/>
                <a:ea typeface="Aptos Bold"/>
                <a:cs typeface="Aptos Bold"/>
                <a:sym typeface="Aptos Bold"/>
              </a:rPr>
              <a:t>JOIN CONCEPT.# 29. Display restaurants that have never received an order</a:t>
            </a:r>
          </a:p>
          <a:p>
            <a:pPr algn="ctr">
              <a:lnSpc>
                <a:spcPts val="3061"/>
              </a:lnSpc>
            </a:pPr>
            <a:r>
              <a:rPr lang="en-US" sz="2550" b="true">
                <a:solidFill>
                  <a:srgbClr val="14274A"/>
                </a:solidFill>
                <a:latin typeface="Aptos Bold"/>
                <a:ea typeface="Aptos Bold"/>
                <a:cs typeface="Aptos Bold"/>
                <a:sym typeface="Aptos Bold"/>
              </a:rPr>
              <a:t>SELECT r.restaurant_name, m.item_name</a:t>
            </a:r>
          </a:p>
          <a:p>
            <a:pPr algn="ctr">
              <a:lnSpc>
                <a:spcPts val="3061"/>
              </a:lnSpc>
            </a:pPr>
            <a:r>
              <a:rPr lang="en-US" sz="2550" b="true">
                <a:solidFill>
                  <a:srgbClr val="14274A"/>
                </a:solidFill>
                <a:latin typeface="Aptos Bold"/>
                <a:ea typeface="Aptos Bold"/>
                <a:cs typeface="Aptos Bold"/>
                <a:sym typeface="Aptos Bold"/>
              </a:rPr>
              <a:t>FROM Menu m</a:t>
            </a:r>
          </a:p>
          <a:p>
            <a:pPr algn="ctr">
              <a:lnSpc>
                <a:spcPts val="3061"/>
              </a:lnSpc>
            </a:pPr>
            <a:r>
              <a:rPr lang="en-US" sz="2550" b="true">
                <a:solidFill>
                  <a:srgbClr val="14274A"/>
                </a:solidFill>
                <a:latin typeface="Aptos Bold"/>
                <a:ea typeface="Aptos Bold"/>
                <a:cs typeface="Aptos Bold"/>
                <a:sym typeface="Aptos Bold"/>
              </a:rPr>
              <a:t>JOIN Restaurants r ON r.restaurant_id = m.restaurant_id</a:t>
            </a:r>
          </a:p>
          <a:p>
            <a:pPr algn="ctr">
              <a:lnSpc>
                <a:spcPts val="3061"/>
              </a:lnSpc>
            </a:pPr>
            <a:r>
              <a:rPr lang="en-US" sz="2550" b="true">
                <a:solidFill>
                  <a:srgbClr val="14274A"/>
                </a:solidFill>
                <a:latin typeface="Aptos Bold"/>
                <a:ea typeface="Aptos Bold"/>
                <a:cs typeface="Aptos Bold"/>
                <a:sym typeface="Aptos Bold"/>
              </a:rPr>
              <a:t>LEFT JOIN Orders o ON o.menu_id = m.menu_id</a:t>
            </a:r>
          </a:p>
          <a:p>
            <a:pPr algn="ctr">
              <a:lnSpc>
                <a:spcPts val="3061"/>
              </a:lnSpc>
            </a:pPr>
            <a:r>
              <a:rPr lang="en-US" sz="2550" b="true">
                <a:solidFill>
                  <a:srgbClr val="14274A"/>
                </a:solidFill>
                <a:latin typeface="Aptos Bold"/>
                <a:ea typeface="Aptos Bold"/>
                <a:cs typeface="Aptos Bold"/>
                <a:sym typeface="Aptos Bold"/>
              </a:rPr>
              <a:t>WHERE o.order_id IS NULL;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05923" y="420167"/>
            <a:ext cx="13205193" cy="252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1F9E97"/>
                </a:solidFill>
                <a:latin typeface="Aptos Bold"/>
                <a:ea typeface="Aptos Bold"/>
                <a:cs typeface="Aptos Bold"/>
                <a:sym typeface="Aptos Bold"/>
              </a:rPr>
              <a:t>04 • SQL CAPABILITIES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05923" y="924973"/>
            <a:ext cx="16362340" cy="626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2"/>
              </a:lnSpc>
            </a:pPr>
            <a:r>
              <a:rPr lang="en-US" sz="4053" b="true">
                <a:solidFill>
                  <a:srgbClr val="14274A"/>
                </a:solidFill>
                <a:latin typeface="Aptos Bold"/>
                <a:ea typeface="Aptos Bold"/>
                <a:cs typeface="Aptos Bold"/>
                <a:sym typeface="Aptos Bold"/>
              </a:rPr>
              <a:t>Views &amp; Stored Procedures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65994" y="1744513"/>
            <a:ext cx="1054570" cy="100546"/>
            <a:chOff x="0" y="0"/>
            <a:chExt cx="1406093" cy="1340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06144" cy="134112"/>
            </a:xfrm>
            <a:custGeom>
              <a:avLst/>
              <a:gdLst/>
              <a:ahLst/>
              <a:cxnLst/>
              <a:rect r="r" b="b" t="t" l="l"/>
              <a:pathLst>
                <a:path h="134112" w="1406144">
                  <a:moveTo>
                    <a:pt x="0" y="0"/>
                  </a:moveTo>
                  <a:lnTo>
                    <a:pt x="1406144" y="0"/>
                  </a:lnTo>
                  <a:lnTo>
                    <a:pt x="1406144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1F9E97"/>
            </a:solidFill>
            <a:ln w="14299" cap="sq">
              <a:solidFill>
                <a:srgbClr val="1F9E97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05923" y="9828295"/>
            <a:ext cx="10871654" cy="13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>
                <a:solidFill>
                  <a:srgbClr val="5E6C7E"/>
                </a:solidFill>
                <a:latin typeface="Aptos"/>
                <a:ea typeface="Aptos"/>
                <a:cs typeface="Aptos"/>
                <a:sym typeface="Aptos"/>
              </a:rPr>
              <a:t>ONLINE FOOD ORDERING SYSTEM  •  MYSQL DATABASE 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732834" y="9754333"/>
            <a:ext cx="645243" cy="238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 b="true">
                <a:solidFill>
                  <a:srgbClr val="5E6C7E"/>
                </a:solidFill>
                <a:latin typeface="Aptos Bold"/>
                <a:ea typeface="Aptos Bold"/>
                <a:cs typeface="Aptos Bold"/>
                <a:sym typeface="Aptos Bold"/>
              </a:rPr>
              <a:t>10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85621" y="2389661"/>
            <a:ext cx="7917904" cy="2770403"/>
          </a:xfrm>
          <a:custGeom>
            <a:avLst/>
            <a:gdLst/>
            <a:ahLst/>
            <a:cxnLst/>
            <a:rect r="r" b="b" t="t" l="l"/>
            <a:pathLst>
              <a:path h="2770403" w="7917904">
                <a:moveTo>
                  <a:pt x="0" y="0"/>
                </a:moveTo>
                <a:lnTo>
                  <a:pt x="7917904" y="0"/>
                </a:lnTo>
                <a:lnTo>
                  <a:pt x="7917904" y="2770403"/>
                </a:lnTo>
                <a:lnTo>
                  <a:pt x="0" y="27704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85621" y="2389661"/>
            <a:ext cx="134836" cy="2770403"/>
            <a:chOff x="0" y="0"/>
            <a:chExt cx="179781" cy="369387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9832" cy="3693922"/>
            </a:xfrm>
            <a:custGeom>
              <a:avLst/>
              <a:gdLst/>
              <a:ahLst/>
              <a:cxnLst/>
              <a:rect r="r" b="b" t="t" l="l"/>
              <a:pathLst>
                <a:path h="3693922" w="179832">
                  <a:moveTo>
                    <a:pt x="0" y="0"/>
                  </a:moveTo>
                  <a:lnTo>
                    <a:pt x="179832" y="0"/>
                  </a:lnTo>
                  <a:lnTo>
                    <a:pt x="179832" y="3693922"/>
                  </a:lnTo>
                  <a:lnTo>
                    <a:pt x="0" y="3693922"/>
                  </a:lnTo>
                  <a:close/>
                </a:path>
              </a:pathLst>
            </a:custGeom>
            <a:solidFill>
              <a:srgbClr val="2366AD"/>
            </a:solidFill>
            <a:ln w="14299" cap="sq">
              <a:solidFill>
                <a:srgbClr val="2366AD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454991" y="2704119"/>
            <a:ext cx="7206615" cy="384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1"/>
              </a:lnSpc>
            </a:pPr>
            <a:r>
              <a:rPr lang="en-US" sz="2400" b="true">
                <a:solidFill>
                  <a:srgbClr val="14274A"/>
                </a:solidFill>
                <a:latin typeface="Aptos Bold"/>
                <a:ea typeface="Aptos Bold"/>
                <a:cs typeface="Aptos Bold"/>
                <a:sym typeface="Aptos Bold"/>
              </a:rPr>
              <a:t>View: Customer_Order_History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54991" y="3330226"/>
            <a:ext cx="7206615" cy="1583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Displays customer name, restaurant name, menu item, quantity and order status.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Purpose: provide a reusable customer order-history result.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9321660" y="2389661"/>
            <a:ext cx="7917904" cy="2770403"/>
          </a:xfrm>
          <a:custGeom>
            <a:avLst/>
            <a:gdLst/>
            <a:ahLst/>
            <a:cxnLst/>
            <a:rect r="r" b="b" t="t" l="l"/>
            <a:pathLst>
              <a:path h="2770403" w="7917904">
                <a:moveTo>
                  <a:pt x="0" y="0"/>
                </a:moveTo>
                <a:lnTo>
                  <a:pt x="7917904" y="0"/>
                </a:lnTo>
                <a:lnTo>
                  <a:pt x="7917904" y="2770403"/>
                </a:lnTo>
                <a:lnTo>
                  <a:pt x="0" y="27704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9321660" y="2389661"/>
            <a:ext cx="134836" cy="2770403"/>
            <a:chOff x="0" y="0"/>
            <a:chExt cx="179781" cy="369387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9832" cy="3693922"/>
            </a:xfrm>
            <a:custGeom>
              <a:avLst/>
              <a:gdLst/>
              <a:ahLst/>
              <a:cxnLst/>
              <a:rect r="r" b="b" t="t" l="l"/>
              <a:pathLst>
                <a:path h="3693922" w="179832">
                  <a:moveTo>
                    <a:pt x="0" y="0"/>
                  </a:moveTo>
                  <a:lnTo>
                    <a:pt x="179832" y="0"/>
                  </a:lnTo>
                  <a:lnTo>
                    <a:pt x="179832" y="3693922"/>
                  </a:lnTo>
                  <a:lnTo>
                    <a:pt x="0" y="3693922"/>
                  </a:lnTo>
                  <a:close/>
                </a:path>
              </a:pathLst>
            </a:custGeom>
            <a:solidFill>
              <a:srgbClr val="1F9E97"/>
            </a:solidFill>
            <a:ln w="14299" cap="sq">
              <a:solidFill>
                <a:srgbClr val="1F9E97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9691021" y="2704119"/>
            <a:ext cx="7206615" cy="384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1"/>
              </a:lnSpc>
            </a:pPr>
            <a:r>
              <a:rPr lang="en-US" sz="2400" b="true">
                <a:solidFill>
                  <a:srgbClr val="14274A"/>
                </a:solidFill>
                <a:latin typeface="Aptos Bold"/>
                <a:ea typeface="Aptos Bold"/>
                <a:cs typeface="Aptos Bold"/>
                <a:sym typeface="Aptos Bold"/>
              </a:rPr>
              <a:t>View: Restaurant_Revenue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691021" y="3330226"/>
            <a:ext cx="7206615" cy="1583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Displays restaurant name, total orders and total revenue.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Purpose: support restaurant-level reporting.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085621" y="5546808"/>
            <a:ext cx="7917904" cy="2152707"/>
          </a:xfrm>
          <a:custGeom>
            <a:avLst/>
            <a:gdLst/>
            <a:ahLst/>
            <a:cxnLst/>
            <a:rect r="r" b="b" t="t" l="l"/>
            <a:pathLst>
              <a:path h="2152707" w="7917904">
                <a:moveTo>
                  <a:pt x="0" y="0"/>
                </a:moveTo>
                <a:lnTo>
                  <a:pt x="7917904" y="0"/>
                </a:lnTo>
                <a:lnTo>
                  <a:pt x="7917904" y="2152707"/>
                </a:lnTo>
                <a:lnTo>
                  <a:pt x="0" y="21527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085621" y="5546808"/>
            <a:ext cx="134836" cy="2152707"/>
            <a:chOff x="0" y="0"/>
            <a:chExt cx="179781" cy="287027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79832" cy="2870327"/>
            </a:xfrm>
            <a:custGeom>
              <a:avLst/>
              <a:gdLst/>
              <a:ahLst/>
              <a:cxnLst/>
              <a:rect r="r" b="b" t="t" l="l"/>
              <a:pathLst>
                <a:path h="2870327" w="179832">
                  <a:moveTo>
                    <a:pt x="0" y="0"/>
                  </a:moveTo>
                  <a:lnTo>
                    <a:pt x="179832" y="0"/>
                  </a:lnTo>
                  <a:lnTo>
                    <a:pt x="179832" y="2870327"/>
                  </a:lnTo>
                  <a:lnTo>
                    <a:pt x="0" y="2870327"/>
                  </a:lnTo>
                  <a:close/>
                </a:path>
              </a:pathLst>
            </a:custGeom>
            <a:solidFill>
              <a:srgbClr val="F2B24B"/>
            </a:solidFill>
            <a:ln w="14299" cap="sq">
              <a:solidFill>
                <a:srgbClr val="F2B24B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454991" y="5861266"/>
            <a:ext cx="7206615" cy="384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1"/>
              </a:lnSpc>
            </a:pPr>
            <a:r>
              <a:rPr lang="en-US" sz="2400" b="true">
                <a:solidFill>
                  <a:srgbClr val="14274A"/>
                </a:solidFill>
                <a:latin typeface="Aptos Bold"/>
                <a:ea typeface="Aptos Bold"/>
                <a:cs typeface="Aptos Bold"/>
                <a:sym typeface="Aptos Bold"/>
              </a:rPr>
              <a:t>Procedure 1: Customer orders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54991" y="6506423"/>
            <a:ext cx="7206615" cy="947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Input: customer_id</a:t>
            </a:r>
          </a:p>
          <a:p>
            <a:pPr algn="l">
              <a:lnSpc>
                <a:spcPts val="2341"/>
              </a:lnSpc>
            </a:pPr>
            <a:r>
              <a:rPr lang="en-US" sz="195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Returns order_id, menu item, quantity, order date and order status.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9321660" y="5546808"/>
            <a:ext cx="7917904" cy="2152707"/>
          </a:xfrm>
          <a:custGeom>
            <a:avLst/>
            <a:gdLst/>
            <a:ahLst/>
            <a:cxnLst/>
            <a:rect r="r" b="b" t="t" l="l"/>
            <a:pathLst>
              <a:path h="2152707" w="7917904">
                <a:moveTo>
                  <a:pt x="0" y="0"/>
                </a:moveTo>
                <a:lnTo>
                  <a:pt x="7917904" y="0"/>
                </a:lnTo>
                <a:lnTo>
                  <a:pt x="7917904" y="2152707"/>
                </a:lnTo>
                <a:lnTo>
                  <a:pt x="0" y="21527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9321660" y="5546808"/>
            <a:ext cx="134836" cy="2152707"/>
            <a:chOff x="0" y="0"/>
            <a:chExt cx="179781" cy="287027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79832" cy="2870327"/>
            </a:xfrm>
            <a:custGeom>
              <a:avLst/>
              <a:gdLst/>
              <a:ahLst/>
              <a:cxnLst/>
              <a:rect r="r" b="b" t="t" l="l"/>
              <a:pathLst>
                <a:path h="2870327" w="179832">
                  <a:moveTo>
                    <a:pt x="0" y="0"/>
                  </a:moveTo>
                  <a:lnTo>
                    <a:pt x="179832" y="0"/>
                  </a:lnTo>
                  <a:lnTo>
                    <a:pt x="179832" y="2870327"/>
                  </a:lnTo>
                  <a:lnTo>
                    <a:pt x="0" y="2870327"/>
                  </a:lnTo>
                  <a:close/>
                </a:path>
              </a:pathLst>
            </a:custGeom>
            <a:solidFill>
              <a:srgbClr val="2366AD"/>
            </a:solidFill>
            <a:ln w="14299" cap="sq">
              <a:solidFill>
                <a:srgbClr val="2366AD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9691021" y="5861266"/>
            <a:ext cx="7206615" cy="384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1"/>
              </a:lnSpc>
            </a:pPr>
            <a:r>
              <a:rPr lang="en-US" sz="2400" b="true">
                <a:solidFill>
                  <a:srgbClr val="14274A"/>
                </a:solidFill>
                <a:latin typeface="Aptos Bold"/>
                <a:ea typeface="Aptos Bold"/>
                <a:cs typeface="Aptos Bold"/>
                <a:sym typeface="Aptos Bold"/>
              </a:rPr>
              <a:t>Procedure 2: Customer spending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691021" y="6506423"/>
            <a:ext cx="7206615" cy="947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Input: customer_id</a:t>
            </a:r>
          </a:p>
          <a:p>
            <a:pPr algn="l">
              <a:lnSpc>
                <a:spcPts val="2341"/>
              </a:lnSpc>
            </a:pPr>
            <a:r>
              <a:rPr lang="en-US" sz="195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Uses Payments to display the total payment amount.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77686" y="7890015"/>
            <a:ext cx="16157619" cy="1600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14274A"/>
                </a:solidFill>
                <a:latin typeface="Aptos Bold"/>
                <a:ea typeface="Aptos Bold"/>
                <a:cs typeface="Aptos Bold"/>
                <a:sym typeface="Aptos Bold"/>
              </a:rPr>
              <a:t>VIEW CONCEPT.# 31Create a view named Restaurant_Revenue displaying restaurant name, total orders, and total revenue.</a:t>
            </a:r>
          </a:p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14274A"/>
                </a:solidFill>
                <a:latin typeface="Aptos Bold"/>
                <a:ea typeface="Aptos Bold"/>
                <a:cs typeface="Aptos Bold"/>
                <a:sym typeface="Aptos Bold"/>
              </a:rPr>
              <a:t>create view restaurant_revenue as select restaurants.restaurant_name,count(order_id) as total_orders,sum(menu.price*orders.quantity) as total_revenue from restaurants join </a:t>
            </a:r>
          </a:p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14274A"/>
                </a:solidFill>
                <a:latin typeface="Aptos Bold"/>
                <a:ea typeface="Aptos Bold"/>
                <a:cs typeface="Aptos Bold"/>
                <a:sym typeface="Aptos Bold"/>
              </a:rPr>
              <a:t>menu on restaurants.restaurant_id=menu.restaurant_id join orders on menu.menu_id=orders.menu_id group by restaurants.restaurant_id,restaurants.restaurant_name;</a:t>
            </a:r>
          </a:p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14274A"/>
                </a:solidFill>
                <a:latin typeface="Aptos Bold"/>
                <a:ea typeface="Aptos Bold"/>
                <a:cs typeface="Aptos Bold"/>
                <a:sym typeface="Aptos Bold"/>
              </a:rPr>
              <a:t>select *from restaurant_revenue;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05923" y="420167"/>
            <a:ext cx="13205193" cy="252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1F9E97"/>
                </a:solidFill>
                <a:latin typeface="Aptos Bold"/>
                <a:ea typeface="Aptos Bold"/>
                <a:cs typeface="Aptos Bold"/>
                <a:sym typeface="Aptos Bold"/>
              </a:rPr>
              <a:t>04 • SQL CAPABILITIES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05923" y="924973"/>
            <a:ext cx="16362340" cy="626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2"/>
              </a:lnSpc>
            </a:pPr>
            <a:r>
              <a:rPr lang="en-US" sz="4053" b="true">
                <a:solidFill>
                  <a:srgbClr val="14274A"/>
                </a:solidFill>
                <a:latin typeface="Aptos Bold"/>
                <a:ea typeface="Aptos Bold"/>
                <a:cs typeface="Aptos Bold"/>
                <a:sym typeface="Aptos Bold"/>
              </a:rPr>
              <a:t>Transactions, Savepoints &amp; Triggers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65994" y="1744513"/>
            <a:ext cx="1054570" cy="100546"/>
            <a:chOff x="0" y="0"/>
            <a:chExt cx="1406093" cy="1340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06144" cy="134112"/>
            </a:xfrm>
            <a:custGeom>
              <a:avLst/>
              <a:gdLst/>
              <a:ahLst/>
              <a:cxnLst/>
              <a:rect r="r" b="b" t="t" l="l"/>
              <a:pathLst>
                <a:path h="134112" w="1406144">
                  <a:moveTo>
                    <a:pt x="0" y="0"/>
                  </a:moveTo>
                  <a:lnTo>
                    <a:pt x="1406144" y="0"/>
                  </a:lnTo>
                  <a:lnTo>
                    <a:pt x="1406144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1F9E97"/>
            </a:solidFill>
            <a:ln w="14299" cap="sq">
              <a:solidFill>
                <a:srgbClr val="1F9E97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6732834" y="9754333"/>
            <a:ext cx="645243" cy="238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 b="true">
                <a:solidFill>
                  <a:srgbClr val="5E6C7E"/>
                </a:solidFill>
                <a:latin typeface="Aptos Bold"/>
                <a:ea typeface="Aptos Bold"/>
                <a:cs typeface="Aptos Bold"/>
                <a:sym typeface="Aptos Bold"/>
              </a:rPr>
              <a:t>11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21638" y="2319776"/>
            <a:ext cx="7439968" cy="370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1F9E97"/>
                </a:solidFill>
                <a:latin typeface="Aptos Bold"/>
                <a:ea typeface="Aptos Bold"/>
                <a:cs typeface="Aptos Bold"/>
                <a:sym typeface="Aptos Bold"/>
              </a:rPr>
              <a:t>TRANSACTION SEQUENCE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222896" y="2801464"/>
            <a:ext cx="546697" cy="505454"/>
          </a:xfrm>
          <a:custGeom>
            <a:avLst/>
            <a:gdLst/>
            <a:ahLst/>
            <a:cxnLst/>
            <a:rect r="r" b="b" t="t" l="l"/>
            <a:pathLst>
              <a:path h="505454" w="546697">
                <a:moveTo>
                  <a:pt x="0" y="0"/>
                </a:moveTo>
                <a:lnTo>
                  <a:pt x="546697" y="0"/>
                </a:lnTo>
                <a:lnTo>
                  <a:pt x="546697" y="505454"/>
                </a:lnTo>
                <a:lnTo>
                  <a:pt x="0" y="5054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58903" y="2923746"/>
            <a:ext cx="274625" cy="164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45237" y="2923746"/>
            <a:ext cx="6067301" cy="233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242F3E"/>
                </a:solidFill>
                <a:latin typeface="Aptos Bold"/>
                <a:ea typeface="Aptos Bold"/>
                <a:cs typeface="Aptos Bold"/>
                <a:sym typeface="Aptos Bold"/>
              </a:rPr>
              <a:t>START TRANSACTION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222896" y="3528984"/>
            <a:ext cx="546697" cy="505454"/>
          </a:xfrm>
          <a:custGeom>
            <a:avLst/>
            <a:gdLst/>
            <a:ahLst/>
            <a:cxnLst/>
            <a:rect r="r" b="b" t="t" l="l"/>
            <a:pathLst>
              <a:path h="505454" w="546697">
                <a:moveTo>
                  <a:pt x="0" y="0"/>
                </a:moveTo>
                <a:lnTo>
                  <a:pt x="546697" y="0"/>
                </a:lnTo>
                <a:lnTo>
                  <a:pt x="546697" y="505454"/>
                </a:lnTo>
                <a:lnTo>
                  <a:pt x="0" y="5054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358903" y="3651266"/>
            <a:ext cx="274625" cy="164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45237" y="3651266"/>
            <a:ext cx="6067301" cy="233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Update a menu item price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222896" y="4256503"/>
            <a:ext cx="546697" cy="505454"/>
          </a:xfrm>
          <a:custGeom>
            <a:avLst/>
            <a:gdLst/>
            <a:ahLst/>
            <a:cxnLst/>
            <a:rect r="r" b="b" t="t" l="l"/>
            <a:pathLst>
              <a:path h="505454" w="546697">
                <a:moveTo>
                  <a:pt x="0" y="0"/>
                </a:moveTo>
                <a:lnTo>
                  <a:pt x="546697" y="0"/>
                </a:lnTo>
                <a:lnTo>
                  <a:pt x="546697" y="505454"/>
                </a:lnTo>
                <a:lnTo>
                  <a:pt x="0" y="5054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58903" y="4378785"/>
            <a:ext cx="274625" cy="164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45237" y="4378785"/>
            <a:ext cx="6067301" cy="233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Create SAVEPOINT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222896" y="4984013"/>
            <a:ext cx="546697" cy="505454"/>
          </a:xfrm>
          <a:custGeom>
            <a:avLst/>
            <a:gdLst/>
            <a:ahLst/>
            <a:cxnLst/>
            <a:rect r="r" b="b" t="t" l="l"/>
            <a:pathLst>
              <a:path h="505454" w="546697">
                <a:moveTo>
                  <a:pt x="0" y="0"/>
                </a:moveTo>
                <a:lnTo>
                  <a:pt x="546697" y="0"/>
                </a:lnTo>
                <a:lnTo>
                  <a:pt x="546697" y="505454"/>
                </a:lnTo>
                <a:lnTo>
                  <a:pt x="0" y="5054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358903" y="5106295"/>
            <a:ext cx="274625" cy="164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045237" y="5106295"/>
            <a:ext cx="6067301" cy="233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Update payment status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222896" y="5711533"/>
            <a:ext cx="546697" cy="505454"/>
          </a:xfrm>
          <a:custGeom>
            <a:avLst/>
            <a:gdLst/>
            <a:ahLst/>
            <a:cxnLst/>
            <a:rect r="r" b="b" t="t" l="l"/>
            <a:pathLst>
              <a:path h="505454" w="546697">
                <a:moveTo>
                  <a:pt x="0" y="0"/>
                </a:moveTo>
                <a:lnTo>
                  <a:pt x="546697" y="0"/>
                </a:lnTo>
                <a:lnTo>
                  <a:pt x="546697" y="505454"/>
                </a:lnTo>
                <a:lnTo>
                  <a:pt x="0" y="5054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358903" y="5833815"/>
            <a:ext cx="274625" cy="164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5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045237" y="5833815"/>
            <a:ext cx="6067301" cy="233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242F3E"/>
                </a:solidFill>
                <a:latin typeface="Aptos Bold"/>
                <a:ea typeface="Aptos Bold"/>
                <a:cs typeface="Aptos Bold"/>
                <a:sym typeface="Aptos Bold"/>
              </a:rPr>
              <a:t>ROLLBACK TO SAVEPOINT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222896" y="6439052"/>
            <a:ext cx="546697" cy="505454"/>
          </a:xfrm>
          <a:custGeom>
            <a:avLst/>
            <a:gdLst/>
            <a:ahLst/>
            <a:cxnLst/>
            <a:rect r="r" b="b" t="t" l="l"/>
            <a:pathLst>
              <a:path h="505454" w="546697">
                <a:moveTo>
                  <a:pt x="0" y="0"/>
                </a:moveTo>
                <a:lnTo>
                  <a:pt x="546697" y="0"/>
                </a:lnTo>
                <a:lnTo>
                  <a:pt x="546697" y="505454"/>
                </a:lnTo>
                <a:lnTo>
                  <a:pt x="0" y="5054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358903" y="6561334"/>
            <a:ext cx="274625" cy="164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6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045237" y="6561334"/>
            <a:ext cx="6067301" cy="233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242F3E"/>
                </a:solidFill>
                <a:latin typeface="Aptos Bold"/>
                <a:ea typeface="Aptos Bold"/>
                <a:cs typeface="Aptos Bold"/>
                <a:sym typeface="Aptos Bold"/>
              </a:rPr>
              <a:t>COMMIT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9184396" y="2348484"/>
            <a:ext cx="7849229" cy="2385974"/>
          </a:xfrm>
          <a:custGeom>
            <a:avLst/>
            <a:gdLst/>
            <a:ahLst/>
            <a:cxnLst/>
            <a:rect r="r" b="b" t="t" l="l"/>
            <a:pathLst>
              <a:path h="2385974" w="7849229">
                <a:moveTo>
                  <a:pt x="0" y="0"/>
                </a:moveTo>
                <a:lnTo>
                  <a:pt x="7849228" y="0"/>
                </a:lnTo>
                <a:lnTo>
                  <a:pt x="7849228" y="2385974"/>
                </a:lnTo>
                <a:lnTo>
                  <a:pt x="0" y="23859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9184396" y="2348484"/>
            <a:ext cx="134836" cy="2385974"/>
            <a:chOff x="0" y="0"/>
            <a:chExt cx="179781" cy="318129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79832" cy="3181350"/>
            </a:xfrm>
            <a:custGeom>
              <a:avLst/>
              <a:gdLst/>
              <a:ahLst/>
              <a:cxnLst/>
              <a:rect r="r" b="b" t="t" l="l"/>
              <a:pathLst>
                <a:path h="3181350" w="179832">
                  <a:moveTo>
                    <a:pt x="0" y="0"/>
                  </a:moveTo>
                  <a:lnTo>
                    <a:pt x="179832" y="0"/>
                  </a:lnTo>
                  <a:lnTo>
                    <a:pt x="179832" y="3181350"/>
                  </a:lnTo>
                  <a:lnTo>
                    <a:pt x="0" y="3181350"/>
                  </a:lnTo>
                  <a:close/>
                </a:path>
              </a:pathLst>
            </a:custGeom>
            <a:solidFill>
              <a:srgbClr val="2366AD"/>
            </a:solidFill>
            <a:ln w="14299" cap="sq">
              <a:solidFill>
                <a:srgbClr val="2366AD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9553756" y="2662942"/>
            <a:ext cx="7137978" cy="384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1"/>
              </a:lnSpc>
            </a:pPr>
            <a:r>
              <a:rPr lang="en-US" sz="2400" b="true">
                <a:solidFill>
                  <a:srgbClr val="14274A"/>
                </a:solidFill>
                <a:latin typeface="Aptos Bold"/>
                <a:ea typeface="Aptos Bold"/>
                <a:cs typeface="Aptos Bold"/>
                <a:sym typeface="Aptos Bold"/>
              </a:rPr>
              <a:t>Trigger: Orders_Archive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553756" y="3308099"/>
            <a:ext cx="7137978" cy="1180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When an order is deleted, store the deleted order details in an Orders_Archive table.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9184396" y="5135013"/>
            <a:ext cx="7849229" cy="2385974"/>
          </a:xfrm>
          <a:custGeom>
            <a:avLst/>
            <a:gdLst/>
            <a:ahLst/>
            <a:cxnLst/>
            <a:rect r="r" b="b" t="t" l="l"/>
            <a:pathLst>
              <a:path h="2385974" w="7849229">
                <a:moveTo>
                  <a:pt x="0" y="0"/>
                </a:moveTo>
                <a:lnTo>
                  <a:pt x="7849228" y="0"/>
                </a:lnTo>
                <a:lnTo>
                  <a:pt x="7849228" y="2385975"/>
                </a:lnTo>
                <a:lnTo>
                  <a:pt x="0" y="23859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9184396" y="5135013"/>
            <a:ext cx="134836" cy="2385974"/>
            <a:chOff x="0" y="0"/>
            <a:chExt cx="179781" cy="318129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79832" cy="3181350"/>
            </a:xfrm>
            <a:custGeom>
              <a:avLst/>
              <a:gdLst/>
              <a:ahLst/>
              <a:cxnLst/>
              <a:rect r="r" b="b" t="t" l="l"/>
              <a:pathLst>
                <a:path h="3181350" w="179832">
                  <a:moveTo>
                    <a:pt x="0" y="0"/>
                  </a:moveTo>
                  <a:lnTo>
                    <a:pt x="179832" y="0"/>
                  </a:lnTo>
                  <a:lnTo>
                    <a:pt x="179832" y="3181350"/>
                  </a:lnTo>
                  <a:lnTo>
                    <a:pt x="0" y="3181350"/>
                  </a:lnTo>
                  <a:close/>
                </a:path>
              </a:pathLst>
            </a:custGeom>
            <a:solidFill>
              <a:srgbClr val="1F9E97"/>
            </a:solidFill>
            <a:ln w="14299" cap="sq">
              <a:solidFill>
                <a:srgbClr val="1F9E97"/>
              </a:solidFill>
              <a:prstDash val="solid"/>
              <a:miter/>
            </a:ln>
          </p:spPr>
        </p:sp>
      </p:grpSp>
      <p:sp>
        <p:nvSpPr>
          <p:cNvPr name="TextBox 34" id="34"/>
          <p:cNvSpPr txBox="true"/>
          <p:nvPr/>
        </p:nvSpPr>
        <p:spPr>
          <a:xfrm rot="0">
            <a:off x="9553756" y="5449462"/>
            <a:ext cx="7137978" cy="384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1"/>
              </a:lnSpc>
            </a:pPr>
            <a:r>
              <a:rPr lang="en-US" sz="2400" b="true">
                <a:solidFill>
                  <a:srgbClr val="14274A"/>
                </a:solidFill>
                <a:latin typeface="Aptos Bold"/>
                <a:ea typeface="Aptos Bold"/>
                <a:cs typeface="Aptos Bold"/>
                <a:sym typeface="Aptos Bold"/>
              </a:rPr>
              <a:t>Trigger: Order_Status_History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553756" y="6094619"/>
            <a:ext cx="7137978" cy="1180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When order_status changes, store order_id, old status, new status and change date.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71731" y="7740063"/>
            <a:ext cx="16179751" cy="2095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400" b="true">
                <a:solidFill>
                  <a:srgbClr val="242F3E"/>
                </a:solidFill>
                <a:latin typeface="Aptos Bold"/>
                <a:ea typeface="Aptos Bold"/>
                <a:cs typeface="Aptos Bold"/>
                <a:sym typeface="Aptos Bold"/>
              </a:rPr>
              <a:t>TRANSACTION CONCEPT.#33. Start a transaction. Update theprice of a menu item. Create a SAVEPOINT. Then update the payment status of an order. Roll back to the savepoint. Commit the transaction.</a:t>
            </a:r>
          </a:p>
          <a:p>
            <a:pPr algn="l">
              <a:lnSpc>
                <a:spcPts val="1678"/>
              </a:lnSpc>
            </a:pPr>
            <a:r>
              <a:rPr lang="en-US" sz="1400" b="true">
                <a:solidFill>
                  <a:srgbClr val="242F3E"/>
                </a:solidFill>
                <a:latin typeface="Aptos Bold"/>
                <a:ea typeface="Aptos Bold"/>
                <a:cs typeface="Aptos Bold"/>
                <a:sym typeface="Aptos Bold"/>
              </a:rPr>
              <a:t>start transaction;</a:t>
            </a:r>
          </a:p>
          <a:p>
            <a:pPr algn="l">
              <a:lnSpc>
                <a:spcPts val="1678"/>
              </a:lnSpc>
            </a:pPr>
            <a:r>
              <a:rPr lang="en-US" sz="1400" b="true">
                <a:solidFill>
                  <a:srgbClr val="242F3E"/>
                </a:solidFill>
                <a:latin typeface="Aptos Bold"/>
                <a:ea typeface="Aptos Bold"/>
                <a:cs typeface="Aptos Bold"/>
                <a:sym typeface="Aptos Bold"/>
              </a:rPr>
              <a:t>update menu set price=price*1.10 where item_name is not null;</a:t>
            </a:r>
          </a:p>
          <a:p>
            <a:pPr algn="l">
              <a:lnSpc>
                <a:spcPts val="1678"/>
              </a:lnSpc>
            </a:pPr>
            <a:r>
              <a:rPr lang="en-US" sz="1400" b="true">
                <a:solidFill>
                  <a:srgbClr val="242F3E"/>
                </a:solidFill>
                <a:latin typeface="Aptos Bold"/>
                <a:ea typeface="Aptos Bold"/>
                <a:cs typeface="Aptos Bold"/>
                <a:sym typeface="Aptos Bold"/>
              </a:rPr>
              <a:t>savepoint pr1;</a:t>
            </a:r>
          </a:p>
          <a:p>
            <a:pPr algn="l">
              <a:lnSpc>
                <a:spcPts val="1678"/>
              </a:lnSpc>
            </a:pPr>
            <a:r>
              <a:rPr lang="en-US" sz="1400" b="true">
                <a:solidFill>
                  <a:srgbClr val="242F3E"/>
                </a:solidFill>
                <a:latin typeface="Aptos Bold"/>
                <a:ea typeface="Aptos Bold"/>
                <a:cs typeface="Aptos Bold"/>
                <a:sym typeface="Aptos Bold"/>
              </a:rPr>
              <a:t>update payments set payment_status='paid' where order_id=408;</a:t>
            </a:r>
          </a:p>
          <a:p>
            <a:pPr algn="l">
              <a:lnSpc>
                <a:spcPts val="1678"/>
              </a:lnSpc>
            </a:pPr>
            <a:r>
              <a:rPr lang="en-US" sz="1400" b="true">
                <a:solidFill>
                  <a:srgbClr val="242F3E"/>
                </a:solidFill>
                <a:latin typeface="Aptos Bold"/>
                <a:ea typeface="Aptos Bold"/>
                <a:cs typeface="Aptos Bold"/>
                <a:sym typeface="Aptos Bold"/>
              </a:rPr>
              <a:t>rollback to savepoint pr1;</a:t>
            </a:r>
          </a:p>
          <a:p>
            <a:pPr algn="l">
              <a:lnSpc>
                <a:spcPts val="1678"/>
              </a:lnSpc>
            </a:pPr>
            <a:r>
              <a:rPr lang="en-US" sz="1400" b="true">
                <a:solidFill>
                  <a:srgbClr val="242F3E"/>
                </a:solidFill>
                <a:latin typeface="Aptos Bold"/>
                <a:ea typeface="Aptos Bold"/>
                <a:cs typeface="Aptos Bold"/>
                <a:sym typeface="Aptos Bold"/>
              </a:rPr>
              <a:t>commit;</a:t>
            </a:r>
          </a:p>
          <a:p>
            <a:pPr algn="l">
              <a:lnSpc>
                <a:spcPts val="1678"/>
              </a:lnSpc>
            </a:pPr>
            <a:r>
              <a:rPr lang="en-US" sz="1400" b="true">
                <a:solidFill>
                  <a:srgbClr val="242F3E"/>
                </a:solidFill>
                <a:latin typeface="Aptos Bold"/>
                <a:ea typeface="Aptos Bold"/>
                <a:cs typeface="Aptos Bold"/>
                <a:sym typeface="Aptos Bold"/>
              </a:rPr>
              <a:t>rollback;</a:t>
            </a:r>
          </a:p>
          <a:p>
            <a:pPr algn="l">
              <a:lnSpc>
                <a:spcPts val="1678"/>
              </a:lnSpc>
            </a:pPr>
            <a:r>
              <a:rPr lang="en-US" sz="1400" b="true">
                <a:solidFill>
                  <a:srgbClr val="242F3E"/>
                </a:solidFill>
                <a:latin typeface="Aptos Bold"/>
                <a:ea typeface="Aptos Bold"/>
                <a:cs typeface="Aptos Bold"/>
                <a:sym typeface="Aptos Bold"/>
              </a:rPr>
              <a:t>select *from menu;</a:t>
            </a:r>
          </a:p>
          <a:p>
            <a:pPr algn="l">
              <a:lnSpc>
                <a:spcPts val="1679"/>
              </a:lnSpc>
            </a:pPr>
            <a:r>
              <a:rPr lang="en-US" sz="1400" b="true">
                <a:solidFill>
                  <a:srgbClr val="242F3E"/>
                </a:solidFill>
                <a:latin typeface="Aptos Bold"/>
                <a:ea typeface="Aptos Bold"/>
                <a:cs typeface="Aptos Bold"/>
                <a:sym typeface="Aptos Bold"/>
              </a:rPr>
              <a:t>select *from payments;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05923" y="420167"/>
            <a:ext cx="13205193" cy="252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1F9E97"/>
                </a:solidFill>
                <a:latin typeface="Aptos Bold"/>
                <a:ea typeface="Aptos Bold"/>
                <a:cs typeface="Aptos Bold"/>
                <a:sym typeface="Aptos Bold"/>
              </a:rPr>
              <a:t>05 • REPORTING &amp; SUMMARY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05923" y="924973"/>
            <a:ext cx="16362340" cy="626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2"/>
              </a:lnSpc>
            </a:pPr>
            <a:r>
              <a:rPr lang="en-US" sz="4053" b="true">
                <a:solidFill>
                  <a:srgbClr val="14274A"/>
                </a:solidFill>
                <a:latin typeface="Aptos Bold"/>
                <a:ea typeface="Aptos Bold"/>
                <a:cs typeface="Aptos Bold"/>
                <a:sym typeface="Aptos Bold"/>
              </a:rPr>
              <a:t>Reports the Database Can Support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65994" y="1744513"/>
            <a:ext cx="1054570" cy="100546"/>
            <a:chOff x="0" y="0"/>
            <a:chExt cx="1406093" cy="1340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06144" cy="134112"/>
            </a:xfrm>
            <a:custGeom>
              <a:avLst/>
              <a:gdLst/>
              <a:ahLst/>
              <a:cxnLst/>
              <a:rect r="r" b="b" t="t" l="l"/>
              <a:pathLst>
                <a:path h="134112" w="1406144">
                  <a:moveTo>
                    <a:pt x="0" y="0"/>
                  </a:moveTo>
                  <a:lnTo>
                    <a:pt x="1406144" y="0"/>
                  </a:lnTo>
                  <a:lnTo>
                    <a:pt x="1406144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1F9E97"/>
            </a:solidFill>
            <a:ln w="14299" cap="sq">
              <a:solidFill>
                <a:srgbClr val="1F9E97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05923" y="9828295"/>
            <a:ext cx="10871654" cy="13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>
                <a:solidFill>
                  <a:srgbClr val="5E6C7E"/>
                </a:solidFill>
                <a:latin typeface="Aptos"/>
                <a:ea typeface="Aptos"/>
                <a:cs typeface="Aptos"/>
                <a:sym typeface="Aptos"/>
              </a:rPr>
              <a:t>ONLINE FOOD ORDERING SYSTEM  •  MYSQL DATABASE 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732834" y="9754333"/>
            <a:ext cx="645243" cy="238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 b="true">
                <a:solidFill>
                  <a:srgbClr val="5E6C7E"/>
                </a:solidFill>
                <a:latin typeface="Aptos Bold"/>
                <a:ea typeface="Aptos Bold"/>
                <a:cs typeface="Aptos Bold"/>
                <a:sym typeface="Aptos Bold"/>
              </a:rPr>
              <a:t>12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85621" y="2458298"/>
            <a:ext cx="5172608" cy="1878197"/>
          </a:xfrm>
          <a:custGeom>
            <a:avLst/>
            <a:gdLst/>
            <a:ahLst/>
            <a:cxnLst/>
            <a:rect r="r" b="b" t="t" l="l"/>
            <a:pathLst>
              <a:path h="1878197" w="5172608">
                <a:moveTo>
                  <a:pt x="0" y="0"/>
                </a:moveTo>
                <a:lnTo>
                  <a:pt x="5172609" y="0"/>
                </a:lnTo>
                <a:lnTo>
                  <a:pt x="5172609" y="1878196"/>
                </a:lnTo>
                <a:lnTo>
                  <a:pt x="0" y="18781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85621" y="2458298"/>
            <a:ext cx="134836" cy="1878101"/>
            <a:chOff x="0" y="0"/>
            <a:chExt cx="179781" cy="250413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9832" cy="2504186"/>
            </a:xfrm>
            <a:custGeom>
              <a:avLst/>
              <a:gdLst/>
              <a:ahLst/>
              <a:cxnLst/>
              <a:rect r="r" b="b" t="t" l="l"/>
              <a:pathLst>
                <a:path h="2504186" w="179832">
                  <a:moveTo>
                    <a:pt x="0" y="0"/>
                  </a:moveTo>
                  <a:lnTo>
                    <a:pt x="179832" y="0"/>
                  </a:lnTo>
                  <a:lnTo>
                    <a:pt x="179832" y="2504186"/>
                  </a:lnTo>
                  <a:lnTo>
                    <a:pt x="0" y="2504186"/>
                  </a:lnTo>
                  <a:close/>
                </a:path>
              </a:pathLst>
            </a:custGeom>
            <a:solidFill>
              <a:srgbClr val="2366AD"/>
            </a:solidFill>
            <a:ln w="14299" cap="sq">
              <a:solidFill>
                <a:srgbClr val="2366AD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454991" y="2772756"/>
            <a:ext cx="4461272" cy="384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1"/>
              </a:lnSpc>
            </a:pPr>
            <a:r>
              <a:rPr lang="en-US" sz="2400" b="true">
                <a:solidFill>
                  <a:srgbClr val="14274A"/>
                </a:solidFill>
                <a:latin typeface="Aptos Bold"/>
                <a:ea typeface="Aptos Bold"/>
                <a:cs typeface="Aptos Bold"/>
                <a:sym typeface="Aptos Bold"/>
              </a:rPr>
              <a:t>Restaurant sales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54991" y="3417913"/>
            <a:ext cx="4461272" cy="672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Total revenue and total orders by restaurant.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782219" y="2458298"/>
            <a:ext cx="5172608" cy="1878197"/>
          </a:xfrm>
          <a:custGeom>
            <a:avLst/>
            <a:gdLst/>
            <a:ahLst/>
            <a:cxnLst/>
            <a:rect r="r" b="b" t="t" l="l"/>
            <a:pathLst>
              <a:path h="1878197" w="5172608">
                <a:moveTo>
                  <a:pt x="0" y="0"/>
                </a:moveTo>
                <a:lnTo>
                  <a:pt x="5172609" y="0"/>
                </a:lnTo>
                <a:lnTo>
                  <a:pt x="5172609" y="1878196"/>
                </a:lnTo>
                <a:lnTo>
                  <a:pt x="0" y="18781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6782219" y="2458298"/>
            <a:ext cx="134836" cy="1878101"/>
            <a:chOff x="0" y="0"/>
            <a:chExt cx="179781" cy="250413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9832" cy="2504186"/>
            </a:xfrm>
            <a:custGeom>
              <a:avLst/>
              <a:gdLst/>
              <a:ahLst/>
              <a:cxnLst/>
              <a:rect r="r" b="b" t="t" l="l"/>
              <a:pathLst>
                <a:path h="2504186" w="179832">
                  <a:moveTo>
                    <a:pt x="0" y="0"/>
                  </a:moveTo>
                  <a:lnTo>
                    <a:pt x="179832" y="0"/>
                  </a:lnTo>
                  <a:lnTo>
                    <a:pt x="179832" y="2504186"/>
                  </a:lnTo>
                  <a:lnTo>
                    <a:pt x="0" y="2504186"/>
                  </a:lnTo>
                  <a:close/>
                </a:path>
              </a:pathLst>
            </a:custGeom>
            <a:solidFill>
              <a:srgbClr val="1F9E97"/>
            </a:solidFill>
            <a:ln w="14299" cap="sq">
              <a:solidFill>
                <a:srgbClr val="1F9E97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7151580" y="2772756"/>
            <a:ext cx="4461272" cy="384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1"/>
              </a:lnSpc>
            </a:pPr>
            <a:r>
              <a:rPr lang="en-US" sz="2400" b="true">
                <a:solidFill>
                  <a:srgbClr val="14274A"/>
                </a:solidFill>
                <a:latin typeface="Aptos Bold"/>
                <a:ea typeface="Aptos Bold"/>
                <a:cs typeface="Aptos Bold"/>
                <a:sym typeface="Aptos Bold"/>
              </a:rPr>
              <a:t>Customer history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151580" y="3417913"/>
            <a:ext cx="4461272" cy="672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Food items, quantities, dates and order status.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2478807" y="2458298"/>
            <a:ext cx="5172608" cy="1878197"/>
          </a:xfrm>
          <a:custGeom>
            <a:avLst/>
            <a:gdLst/>
            <a:ahLst/>
            <a:cxnLst/>
            <a:rect r="r" b="b" t="t" l="l"/>
            <a:pathLst>
              <a:path h="1878197" w="5172608">
                <a:moveTo>
                  <a:pt x="0" y="0"/>
                </a:moveTo>
                <a:lnTo>
                  <a:pt x="5172609" y="0"/>
                </a:lnTo>
                <a:lnTo>
                  <a:pt x="5172609" y="1878196"/>
                </a:lnTo>
                <a:lnTo>
                  <a:pt x="0" y="18781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2478807" y="2458298"/>
            <a:ext cx="134836" cy="1878101"/>
            <a:chOff x="0" y="0"/>
            <a:chExt cx="179781" cy="250413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79832" cy="2504186"/>
            </a:xfrm>
            <a:custGeom>
              <a:avLst/>
              <a:gdLst/>
              <a:ahLst/>
              <a:cxnLst/>
              <a:rect r="r" b="b" t="t" l="l"/>
              <a:pathLst>
                <a:path h="2504186" w="179832">
                  <a:moveTo>
                    <a:pt x="0" y="0"/>
                  </a:moveTo>
                  <a:lnTo>
                    <a:pt x="179832" y="0"/>
                  </a:lnTo>
                  <a:lnTo>
                    <a:pt x="179832" y="2504186"/>
                  </a:lnTo>
                  <a:lnTo>
                    <a:pt x="0" y="2504186"/>
                  </a:lnTo>
                  <a:close/>
                </a:path>
              </a:pathLst>
            </a:custGeom>
            <a:solidFill>
              <a:srgbClr val="F2B24B"/>
            </a:solidFill>
            <a:ln w="14299" cap="sq">
              <a:solidFill>
                <a:srgbClr val="F2B24B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2848168" y="2772756"/>
            <a:ext cx="4461272" cy="384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1"/>
              </a:lnSpc>
            </a:pPr>
            <a:r>
              <a:rPr lang="en-US" sz="2400" b="true">
                <a:solidFill>
                  <a:srgbClr val="14274A"/>
                </a:solidFill>
                <a:latin typeface="Aptos Bold"/>
                <a:ea typeface="Aptos Bold"/>
                <a:cs typeface="Aptos Bold"/>
                <a:sym typeface="Aptos Bold"/>
              </a:rPr>
              <a:t>Popular food items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848168" y="3417913"/>
            <a:ext cx="4461272" cy="672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Total quantity ordered per menu item.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085621" y="4860474"/>
            <a:ext cx="5172608" cy="1878197"/>
          </a:xfrm>
          <a:custGeom>
            <a:avLst/>
            <a:gdLst/>
            <a:ahLst/>
            <a:cxnLst/>
            <a:rect r="r" b="b" t="t" l="l"/>
            <a:pathLst>
              <a:path h="1878197" w="5172608">
                <a:moveTo>
                  <a:pt x="0" y="0"/>
                </a:moveTo>
                <a:lnTo>
                  <a:pt x="5172609" y="0"/>
                </a:lnTo>
                <a:lnTo>
                  <a:pt x="5172609" y="1878197"/>
                </a:lnTo>
                <a:lnTo>
                  <a:pt x="0" y="18781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1085621" y="4860474"/>
            <a:ext cx="134836" cy="1878101"/>
            <a:chOff x="0" y="0"/>
            <a:chExt cx="179781" cy="250413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79832" cy="2504186"/>
            </a:xfrm>
            <a:custGeom>
              <a:avLst/>
              <a:gdLst/>
              <a:ahLst/>
              <a:cxnLst/>
              <a:rect r="r" b="b" t="t" l="l"/>
              <a:pathLst>
                <a:path h="2504186" w="179832">
                  <a:moveTo>
                    <a:pt x="0" y="0"/>
                  </a:moveTo>
                  <a:lnTo>
                    <a:pt x="179832" y="0"/>
                  </a:lnTo>
                  <a:lnTo>
                    <a:pt x="179832" y="2504186"/>
                  </a:lnTo>
                  <a:lnTo>
                    <a:pt x="0" y="2504186"/>
                  </a:lnTo>
                  <a:close/>
                </a:path>
              </a:pathLst>
            </a:custGeom>
            <a:solidFill>
              <a:srgbClr val="2366AD"/>
            </a:solidFill>
            <a:ln w="14299" cap="sq">
              <a:solidFill>
                <a:srgbClr val="2366AD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1454991" y="5174932"/>
            <a:ext cx="4461272" cy="384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1"/>
              </a:lnSpc>
            </a:pPr>
            <a:r>
              <a:rPr lang="en-US" sz="2400" b="true">
                <a:solidFill>
                  <a:srgbClr val="14274A"/>
                </a:solidFill>
                <a:latin typeface="Aptos Bold"/>
                <a:ea typeface="Aptos Bold"/>
                <a:cs typeface="Aptos Bold"/>
                <a:sym typeface="Aptos Bold"/>
              </a:rPr>
              <a:t>Payment monitoring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54991" y="5820089"/>
            <a:ext cx="4461272" cy="672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Paid, Pending and Refunded payment records.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6782219" y="4860474"/>
            <a:ext cx="5172608" cy="1878197"/>
          </a:xfrm>
          <a:custGeom>
            <a:avLst/>
            <a:gdLst/>
            <a:ahLst/>
            <a:cxnLst/>
            <a:rect r="r" b="b" t="t" l="l"/>
            <a:pathLst>
              <a:path h="1878197" w="5172608">
                <a:moveTo>
                  <a:pt x="0" y="0"/>
                </a:moveTo>
                <a:lnTo>
                  <a:pt x="5172609" y="0"/>
                </a:lnTo>
                <a:lnTo>
                  <a:pt x="5172609" y="1878197"/>
                </a:lnTo>
                <a:lnTo>
                  <a:pt x="0" y="18781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6782219" y="4860474"/>
            <a:ext cx="134836" cy="1878101"/>
            <a:chOff x="0" y="0"/>
            <a:chExt cx="179781" cy="250413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79832" cy="2504186"/>
            </a:xfrm>
            <a:custGeom>
              <a:avLst/>
              <a:gdLst/>
              <a:ahLst/>
              <a:cxnLst/>
              <a:rect r="r" b="b" t="t" l="l"/>
              <a:pathLst>
                <a:path h="2504186" w="179832">
                  <a:moveTo>
                    <a:pt x="0" y="0"/>
                  </a:moveTo>
                  <a:lnTo>
                    <a:pt x="179832" y="0"/>
                  </a:lnTo>
                  <a:lnTo>
                    <a:pt x="179832" y="2504186"/>
                  </a:lnTo>
                  <a:lnTo>
                    <a:pt x="0" y="2504186"/>
                  </a:lnTo>
                  <a:close/>
                </a:path>
              </a:pathLst>
            </a:custGeom>
            <a:solidFill>
              <a:srgbClr val="1F9E97"/>
            </a:solidFill>
            <a:ln w="14299" cap="sq">
              <a:solidFill>
                <a:srgbClr val="1F9E97"/>
              </a:solidFill>
              <a:prstDash val="solid"/>
              <a:miter/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7151580" y="5174932"/>
            <a:ext cx="4461272" cy="384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1"/>
              </a:lnSpc>
            </a:pPr>
            <a:r>
              <a:rPr lang="en-US" sz="2400" b="true">
                <a:solidFill>
                  <a:srgbClr val="14274A"/>
                </a:solidFill>
                <a:latin typeface="Aptos Bold"/>
                <a:ea typeface="Aptos Bold"/>
                <a:cs typeface="Aptos Bold"/>
                <a:sym typeface="Aptos Bold"/>
              </a:rPr>
              <a:t>Menu availability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151580" y="5820089"/>
            <a:ext cx="4461272" cy="672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Available menu items by restaurant.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12478807" y="4860474"/>
            <a:ext cx="5172608" cy="1878197"/>
          </a:xfrm>
          <a:custGeom>
            <a:avLst/>
            <a:gdLst/>
            <a:ahLst/>
            <a:cxnLst/>
            <a:rect r="r" b="b" t="t" l="l"/>
            <a:pathLst>
              <a:path h="1878197" w="5172608">
                <a:moveTo>
                  <a:pt x="0" y="0"/>
                </a:moveTo>
                <a:lnTo>
                  <a:pt x="5172609" y="0"/>
                </a:lnTo>
                <a:lnTo>
                  <a:pt x="5172609" y="1878197"/>
                </a:lnTo>
                <a:lnTo>
                  <a:pt x="0" y="18781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12478807" y="4860474"/>
            <a:ext cx="134836" cy="1878101"/>
            <a:chOff x="0" y="0"/>
            <a:chExt cx="179781" cy="250413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79832" cy="2504186"/>
            </a:xfrm>
            <a:custGeom>
              <a:avLst/>
              <a:gdLst/>
              <a:ahLst/>
              <a:cxnLst/>
              <a:rect r="r" b="b" t="t" l="l"/>
              <a:pathLst>
                <a:path h="2504186" w="179832">
                  <a:moveTo>
                    <a:pt x="0" y="0"/>
                  </a:moveTo>
                  <a:lnTo>
                    <a:pt x="179832" y="0"/>
                  </a:lnTo>
                  <a:lnTo>
                    <a:pt x="179832" y="2504186"/>
                  </a:lnTo>
                  <a:lnTo>
                    <a:pt x="0" y="2504186"/>
                  </a:lnTo>
                  <a:close/>
                </a:path>
              </a:pathLst>
            </a:custGeom>
            <a:solidFill>
              <a:srgbClr val="F2B24B"/>
            </a:solidFill>
            <a:ln w="14299" cap="sq">
              <a:solidFill>
                <a:srgbClr val="F2B24B"/>
              </a:solidFill>
              <a:prstDash val="solid"/>
              <a:miter/>
            </a:ln>
          </p:spPr>
        </p:sp>
      </p:grpSp>
      <p:sp>
        <p:nvSpPr>
          <p:cNvPr name="TextBox 36" id="36"/>
          <p:cNvSpPr txBox="true"/>
          <p:nvPr/>
        </p:nvSpPr>
        <p:spPr>
          <a:xfrm rot="0">
            <a:off x="12848168" y="5174932"/>
            <a:ext cx="4461272" cy="384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1"/>
              </a:lnSpc>
            </a:pPr>
            <a:r>
              <a:rPr lang="en-US" sz="2400" b="true">
                <a:solidFill>
                  <a:srgbClr val="14274A"/>
                </a:solidFill>
                <a:latin typeface="Aptos Bold"/>
                <a:ea typeface="Aptos Bold"/>
                <a:cs typeface="Aptos Bold"/>
                <a:sym typeface="Aptos Bold"/>
              </a:rPr>
              <a:t>Order fulfilment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848168" y="5820089"/>
            <a:ext cx="4461272" cy="672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242F3E"/>
                </a:solidFill>
                <a:latin typeface="Aptos"/>
                <a:ea typeface="Aptos"/>
                <a:cs typeface="Aptos"/>
                <a:sym typeface="Aptos"/>
              </a:rPr>
              <a:t>Delivered, Preparing and Cancelled orders.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58903" y="7810462"/>
            <a:ext cx="15538742" cy="71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0">
                <a:solidFill>
                  <a:srgbClr val="5E6C7E"/>
                </a:solidFill>
                <a:latin typeface="Aptos"/>
                <a:ea typeface="Aptos"/>
                <a:cs typeface="Aptos"/>
                <a:sym typeface="Aptos"/>
              </a:rPr>
              <a:t>Reports are produced by querying and joining the Restaurants, Menu, Customers, Orders and Payments tables.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27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53001" y="878472"/>
            <a:ext cx="4008291" cy="302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0" b="true">
                <a:solidFill>
                  <a:srgbClr val="1F9E97"/>
                </a:solidFill>
                <a:latin typeface="Aptos Bold"/>
                <a:ea typeface="Aptos Bold"/>
                <a:cs typeface="Aptos Bold"/>
                <a:sym typeface="Aptos Bold"/>
              </a:rPr>
              <a:t>05 • PROJECT SUMMARY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53001" y="1614383"/>
            <a:ext cx="10871654" cy="938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4"/>
              </a:lnSpc>
            </a:pPr>
            <a:r>
              <a:rPr lang="en-US" sz="5103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Conclusion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21638" y="3006109"/>
            <a:ext cx="9910782" cy="2017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DEE8F4"/>
                </a:solidFill>
                <a:latin typeface="Aptos"/>
                <a:ea typeface="Aptos"/>
                <a:cs typeface="Aptos"/>
                <a:sym typeface="Aptos"/>
              </a:rPr>
              <a:t>The Online Food Ordering System database organizes restaurant, menu, customer, order and payment information in related tables.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21638" y="5545550"/>
            <a:ext cx="9773517" cy="1400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1"/>
              </a:lnSpc>
            </a:pPr>
            <a:r>
              <a:rPr lang="en-US" sz="2550">
                <a:solidFill>
                  <a:srgbClr val="BED0E5"/>
                </a:solidFill>
                <a:latin typeface="Aptos"/>
                <a:ea typeface="Aptos"/>
                <a:cs typeface="Aptos"/>
                <a:sym typeface="Aptos"/>
              </a:rPr>
              <a:t>SQL queries, joins, aggregate functions, views, stored procedures, transactions and triggers provide the foundation for operational tracking and reporting.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2341543" y="1977866"/>
            <a:ext cx="4623397" cy="5996140"/>
          </a:xfrm>
          <a:custGeom>
            <a:avLst/>
            <a:gdLst/>
            <a:ahLst/>
            <a:cxnLst/>
            <a:rect r="r" b="b" t="t" l="l"/>
            <a:pathLst>
              <a:path h="5996140" w="4623397">
                <a:moveTo>
                  <a:pt x="0" y="0"/>
                </a:moveTo>
                <a:lnTo>
                  <a:pt x="4623396" y="0"/>
                </a:lnTo>
                <a:lnTo>
                  <a:pt x="4623396" y="5996140"/>
                </a:lnTo>
                <a:lnTo>
                  <a:pt x="0" y="59961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821974" y="2526935"/>
            <a:ext cx="3662610" cy="683952"/>
          </a:xfrm>
          <a:custGeom>
            <a:avLst/>
            <a:gdLst/>
            <a:ahLst/>
            <a:cxnLst/>
            <a:rect r="r" b="b" t="t" l="l"/>
            <a:pathLst>
              <a:path h="683952" w="3662610">
                <a:moveTo>
                  <a:pt x="0" y="0"/>
                </a:moveTo>
                <a:lnTo>
                  <a:pt x="3662610" y="0"/>
                </a:lnTo>
                <a:lnTo>
                  <a:pt x="3662610" y="683952"/>
                </a:lnTo>
                <a:lnTo>
                  <a:pt x="0" y="6839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985442" y="2717844"/>
            <a:ext cx="3321949" cy="233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RESTAURANTS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2821974" y="3515258"/>
            <a:ext cx="3662610" cy="683952"/>
          </a:xfrm>
          <a:custGeom>
            <a:avLst/>
            <a:gdLst/>
            <a:ahLst/>
            <a:cxnLst/>
            <a:rect r="r" b="b" t="t" l="l"/>
            <a:pathLst>
              <a:path h="683952" w="3662610">
                <a:moveTo>
                  <a:pt x="0" y="0"/>
                </a:moveTo>
                <a:lnTo>
                  <a:pt x="3662610" y="0"/>
                </a:lnTo>
                <a:lnTo>
                  <a:pt x="3662610" y="683953"/>
                </a:lnTo>
                <a:lnTo>
                  <a:pt x="0" y="6839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985442" y="3706168"/>
            <a:ext cx="3321949" cy="233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MENU ITEMS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2821974" y="4503582"/>
            <a:ext cx="3662610" cy="683952"/>
          </a:xfrm>
          <a:custGeom>
            <a:avLst/>
            <a:gdLst/>
            <a:ahLst/>
            <a:cxnLst/>
            <a:rect r="r" b="b" t="t" l="l"/>
            <a:pathLst>
              <a:path h="683952" w="3662610">
                <a:moveTo>
                  <a:pt x="0" y="0"/>
                </a:moveTo>
                <a:lnTo>
                  <a:pt x="3662610" y="0"/>
                </a:lnTo>
                <a:lnTo>
                  <a:pt x="3662610" y="683952"/>
                </a:lnTo>
                <a:lnTo>
                  <a:pt x="0" y="6839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985442" y="4694501"/>
            <a:ext cx="3321949" cy="233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14274A"/>
                </a:solidFill>
                <a:latin typeface="Aptos Bold"/>
                <a:ea typeface="Aptos Bold"/>
                <a:cs typeface="Aptos Bold"/>
                <a:sym typeface="Aptos Bold"/>
              </a:rPr>
              <a:t>ORDERS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2821974" y="5491905"/>
            <a:ext cx="3662610" cy="683952"/>
          </a:xfrm>
          <a:custGeom>
            <a:avLst/>
            <a:gdLst/>
            <a:ahLst/>
            <a:cxnLst/>
            <a:rect r="r" b="b" t="t" l="l"/>
            <a:pathLst>
              <a:path h="683952" w="3662610">
                <a:moveTo>
                  <a:pt x="0" y="0"/>
                </a:moveTo>
                <a:lnTo>
                  <a:pt x="3662610" y="0"/>
                </a:lnTo>
                <a:lnTo>
                  <a:pt x="3662610" y="683953"/>
                </a:lnTo>
                <a:lnTo>
                  <a:pt x="0" y="6839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985442" y="5682815"/>
            <a:ext cx="3321949" cy="233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PAYMENTS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2821974" y="6480229"/>
            <a:ext cx="3662610" cy="683952"/>
          </a:xfrm>
          <a:custGeom>
            <a:avLst/>
            <a:gdLst/>
            <a:ahLst/>
            <a:cxnLst/>
            <a:rect r="r" b="b" t="t" l="l"/>
            <a:pathLst>
              <a:path h="683952" w="3662610">
                <a:moveTo>
                  <a:pt x="0" y="0"/>
                </a:moveTo>
                <a:lnTo>
                  <a:pt x="3662610" y="0"/>
                </a:lnTo>
                <a:lnTo>
                  <a:pt x="3662610" y="683952"/>
                </a:lnTo>
                <a:lnTo>
                  <a:pt x="0" y="6839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2985442" y="6671148"/>
            <a:ext cx="3321949" cy="233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REPORTS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21638" y="9389040"/>
            <a:ext cx="8126311" cy="233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0" b="true">
                <a:solidFill>
                  <a:srgbClr val="1F9E97"/>
                </a:solidFill>
                <a:latin typeface="Aptos Bold"/>
                <a:ea typeface="Aptos Bold"/>
                <a:cs typeface="Aptos Bold"/>
                <a:sym typeface="Aptos Bold"/>
              </a:rPr>
              <a:t>Thank you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05923" y="420167"/>
            <a:ext cx="13205193" cy="252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1F9E97"/>
                </a:solidFill>
                <a:latin typeface="Aptos Bold"/>
                <a:ea typeface="Aptos Bold"/>
                <a:cs typeface="Aptos Bold"/>
                <a:sym typeface="Aptos Bold"/>
              </a:rPr>
              <a:t>06 • CLOSING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05923" y="924973"/>
            <a:ext cx="16362340" cy="626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2"/>
              </a:lnSpc>
            </a:pPr>
            <a:r>
              <a:rPr lang="en-US" sz="4053" b="true">
                <a:solidFill>
                  <a:srgbClr val="14274A"/>
                </a:solidFill>
                <a:latin typeface="Aptos Bold"/>
                <a:ea typeface="Aptos Bold"/>
                <a:cs typeface="Aptos Bold"/>
                <a:sym typeface="Aptos Bold"/>
              </a:rPr>
              <a:t>Questions &amp; Discussion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65994" y="1744513"/>
            <a:ext cx="1054570" cy="100546"/>
            <a:chOff x="0" y="0"/>
            <a:chExt cx="1406093" cy="1340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06144" cy="134112"/>
            </a:xfrm>
            <a:custGeom>
              <a:avLst/>
              <a:gdLst/>
              <a:ahLst/>
              <a:cxnLst/>
              <a:rect r="r" b="b" t="t" l="l"/>
              <a:pathLst>
                <a:path h="134112" w="1406144">
                  <a:moveTo>
                    <a:pt x="0" y="0"/>
                  </a:moveTo>
                  <a:lnTo>
                    <a:pt x="1406144" y="0"/>
                  </a:lnTo>
                  <a:lnTo>
                    <a:pt x="1406144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1F9E97"/>
            </a:solidFill>
            <a:ln w="14299" cap="sq">
              <a:solidFill>
                <a:srgbClr val="1F9E97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05923" y="9828295"/>
            <a:ext cx="10871654" cy="13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>
                <a:solidFill>
                  <a:srgbClr val="5E6C7E"/>
                </a:solidFill>
                <a:latin typeface="Aptos"/>
                <a:ea typeface="Aptos"/>
                <a:cs typeface="Aptos"/>
                <a:sym typeface="Aptos"/>
              </a:rPr>
              <a:t>ONLINE FOOD ORDERING SYSTEM  •  MYSQL DATABASE 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732834" y="9754333"/>
            <a:ext cx="645243" cy="238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 b="true">
                <a:solidFill>
                  <a:srgbClr val="5E6C7E"/>
                </a:solidFill>
                <a:latin typeface="Aptos Bold"/>
                <a:ea typeface="Aptos Bold"/>
                <a:cs typeface="Aptos Bold"/>
                <a:sym typeface="Aptos Bold"/>
              </a:rPr>
              <a:t>14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428798" y="2458298"/>
            <a:ext cx="15398934" cy="4966678"/>
          </a:xfrm>
          <a:custGeom>
            <a:avLst/>
            <a:gdLst/>
            <a:ahLst/>
            <a:cxnLst/>
            <a:rect r="r" b="b" t="t" l="l"/>
            <a:pathLst>
              <a:path h="4966678" w="15398934">
                <a:moveTo>
                  <a:pt x="0" y="0"/>
                </a:moveTo>
                <a:lnTo>
                  <a:pt x="15398934" y="0"/>
                </a:lnTo>
                <a:lnTo>
                  <a:pt x="15398934" y="4966678"/>
                </a:lnTo>
                <a:lnTo>
                  <a:pt x="0" y="49666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182511" y="3398863"/>
            <a:ext cx="13891527" cy="1007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24"/>
              </a:lnSpc>
            </a:pPr>
            <a:r>
              <a:rPr lang="en-US" sz="5103" b="true">
                <a:solidFill>
                  <a:srgbClr val="14274A"/>
                </a:solidFill>
                <a:latin typeface="Aptos Bold"/>
                <a:ea typeface="Aptos Bold"/>
                <a:cs typeface="Aptos Bold"/>
                <a:sym typeface="Aptos Bold"/>
              </a:rPr>
              <a:t>Thank you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19776" y="4790580"/>
            <a:ext cx="13616997" cy="71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1"/>
              </a:lnSpc>
            </a:pPr>
            <a:r>
              <a:rPr lang="en-US" sz="3152" b="true">
                <a:solidFill>
                  <a:srgbClr val="1F9E97"/>
                </a:solidFill>
                <a:latin typeface="Aptos Bold"/>
                <a:ea typeface="Aptos Bold"/>
                <a:cs typeface="Aptos Bold"/>
                <a:sym typeface="Aptos Bold"/>
              </a:rPr>
              <a:t>Questions and discussion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19776" y="6006941"/>
            <a:ext cx="13616997" cy="595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5E6C7E"/>
                </a:solidFill>
                <a:latin typeface="Aptos"/>
                <a:ea typeface="Aptos"/>
                <a:cs typeface="Aptos"/>
                <a:sym typeface="Aptos"/>
              </a:rPr>
              <a:t>Online Food Ordering System • MySQL Database Project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90266" y="8153629"/>
            <a:ext cx="15676007" cy="576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5E6C7E"/>
                </a:solidFill>
                <a:latin typeface="Aptos"/>
                <a:ea typeface="Aptos"/>
                <a:cs typeface="Aptos"/>
                <a:sym typeface="Aptos"/>
              </a:rPr>
              <a:t>Source: supplied “Online Food Ordering System” project brief (problem statement, schema, sample data and 37 SQL tasks).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DAHZAO-eI5k</dc:identifier>
  <dcterms:modified xsi:type="dcterms:W3CDTF">2011-08-01T06:04:30Z</dcterms:modified>
  <cp:revision>1</cp:revision>
  <dc:title>DOC-20261015-WA0000.pptx</dc:title>
</cp:coreProperties>
</file>